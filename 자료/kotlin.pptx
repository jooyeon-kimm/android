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65" r:id="rId5"/>
    <p:sldId id="290" r:id="rId6"/>
    <p:sldId id="270" r:id="rId7"/>
    <p:sldId id="266" r:id="rId8"/>
    <p:sldId id="267" r:id="rId9"/>
    <p:sldId id="268" r:id="rId10"/>
    <p:sldId id="269" r:id="rId11"/>
    <p:sldId id="291" r:id="rId12"/>
    <p:sldId id="287" r:id="rId13"/>
    <p:sldId id="272" r:id="rId14"/>
    <p:sldId id="271" r:id="rId15"/>
    <p:sldId id="273" r:id="rId16"/>
    <p:sldId id="274" r:id="rId17"/>
    <p:sldId id="289" r:id="rId18"/>
    <p:sldId id="275" r:id="rId19"/>
    <p:sldId id="286" r:id="rId20"/>
    <p:sldId id="276" r:id="rId21"/>
    <p:sldId id="282" r:id="rId22"/>
    <p:sldId id="284" r:id="rId23"/>
    <p:sldId id="283" r:id="rId24"/>
    <p:sldId id="292" r:id="rId25"/>
    <p:sldId id="259" r:id="rId26"/>
    <p:sldId id="295" r:id="rId27"/>
    <p:sldId id="294" r:id="rId28"/>
    <p:sldId id="293" r:id="rId29"/>
    <p:sldId id="260" r:id="rId30"/>
    <p:sldId id="263" r:id="rId31"/>
    <p:sldId id="264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621D59F-80C5-4F6C-B133-E06A385E818C}">
          <p14:sldIdLst>
            <p14:sldId id="256"/>
            <p14:sldId id="257"/>
            <p14:sldId id="278"/>
            <p14:sldId id="265"/>
            <p14:sldId id="290"/>
            <p14:sldId id="270"/>
            <p14:sldId id="266"/>
            <p14:sldId id="267"/>
            <p14:sldId id="268"/>
            <p14:sldId id="269"/>
            <p14:sldId id="291"/>
            <p14:sldId id="287"/>
            <p14:sldId id="272"/>
            <p14:sldId id="271"/>
            <p14:sldId id="273"/>
            <p14:sldId id="274"/>
            <p14:sldId id="289"/>
            <p14:sldId id="275"/>
            <p14:sldId id="286"/>
            <p14:sldId id="276"/>
            <p14:sldId id="282"/>
            <p14:sldId id="284"/>
            <p14:sldId id="283"/>
            <p14:sldId id="292"/>
            <p14:sldId id="259"/>
            <p14:sldId id="295"/>
            <p14:sldId id="294"/>
            <p14:sldId id="293"/>
            <p14:sldId id="260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6C99D-1ACF-ACF9-3002-30A871DF7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AB550D-E6CB-1EC5-B3B4-7BE3841F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2D8FC-E905-C3CB-E5D0-A5208FC1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B24CF5-8F55-4AED-2BB1-80B372B7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2F63EE-0AF9-AB4C-5A3D-3D721564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77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CF9E2-31C2-EE7E-F562-90D11DDE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E566BB-1FD8-9736-C053-C397E1036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6DDCC-90C8-BCDC-28DA-A364242E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485C8C-4D46-FEF8-0E15-A62B2960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2EBEA-762D-65D3-70FD-241DA42F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56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8481-BD16-EABC-156A-03F62D45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23DF56-4F77-0932-6E36-4BE049A01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0DD681-4B53-B1A3-347D-BD52C3C5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CCB50-BC31-CA36-66FF-BC4967AAA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34DA9D-4DE1-0D1B-01A0-8DBAE8EC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385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A5ABF-EE3C-E33E-7B7C-5F0510C5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E6297-970E-95AE-4E55-F5858BFC3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479BA2-A9BB-65B5-7FE2-9608840B9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886A47-A172-1A6D-7B41-E10E7DF5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FF7EB9-DA49-C8A6-AAFD-E762121A4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A573A3-10F2-411B-EDEA-C065E4B8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41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634A2-0E60-543B-048F-69385976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502D0E-A300-A5AE-887D-6EC9FA63A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0121DB-DA41-C068-85EB-997380402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159EB5-6484-E475-8A89-F511FC994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3F4769-69E1-6356-51F2-E4618E649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AF162E-1326-E59B-1EE8-EB9153EC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DBBB19-E87D-85B8-B10D-7615E147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D4C0A1-95B3-1057-12D8-68206B30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82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EC01F-9B11-3CD6-5C61-5A78D76D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2498EA-395C-1661-FE63-C6C7E276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AF631C-BE47-BF4D-6075-981E2DAD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87506A-BCF7-A67B-4865-62E8B9BE7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18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FCA371-DAE2-494E-89FD-76E417EB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E0427B-9979-7A3A-4F8C-BD8F151B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C21807-E628-3783-5E8D-C580B5BF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469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0EB4C-167C-280B-CE60-079C0922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0CAA6B-CB18-23E8-8699-866F72A19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BF361-7564-3174-ADCF-4B013EF16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76C506-F0FD-15FE-2E80-E74020E9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44D0E8-B233-F209-103E-849EC3C6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278F93-3775-06A4-31C1-2C5A1CF0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93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15050-7282-9DD6-BB30-EC7A5A457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B54BC6-6B3E-A95A-2A52-4CCF8F1DA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F07098-A95C-696C-13B0-42216AC68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0576FD-226F-F24C-3CE0-D3BF3DCC3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D83D97-45B1-5A5A-3788-B981E698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FE9E79-BBE0-70D3-AA0A-C9910A24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72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88B84-A9AA-DE12-5BF5-46D55F97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1C8E-09FE-3688-AE34-716E02C1D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F49374-20D1-8BA5-9652-179D4F2D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5E178-DCF4-BB75-A797-6AF8F0F1B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FFBC6-A4A6-1A2D-F2AF-24FC8A9D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14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CF516B-5758-3D84-8B12-822A12411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D32E91-C28A-3F4E-F930-53F4F11DA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BA4F51-F18E-8688-FACF-AB91B56E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5C4C5-C3E7-6B60-E81C-7E5A12C2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CDDEBB-6620-008B-5FFA-5CA26789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74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E7448C-B9AA-1F33-28F0-78A2368E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439D08-8A71-3AC4-C68A-36BCDB28E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7DF8ED-AD97-A780-2FE7-C2B0D416A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BDC72-49F9-4595-9D02-7FB5D75D2A8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846BA-F114-ACE6-7D1C-73EF43503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5B7D21-CC23-3128-9F64-ABA36C1A0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3E6AE-D36E-4BD0-8214-221F6810B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50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A114D-1F9E-5270-C91F-3BA5D85955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Kotlin </a:t>
            </a:r>
            <a:r>
              <a:rPr lang="ko-KR" altLang="en-US" dirty="0"/>
              <a:t>분석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17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E163E-3822-9D94-6082-80D42F04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354CE-5473-B420-1F88-3FA834A17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56150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  <a:endParaRPr lang="en-US" altLang="ko-KR" dirty="0"/>
          </a:p>
          <a:p>
            <a:pPr lvl="1"/>
            <a:r>
              <a:rPr lang="ko-KR" altLang="en-US" dirty="0"/>
              <a:t>변수 지정</a:t>
            </a:r>
            <a:endParaRPr lang="en-US" altLang="ko-KR" dirty="0"/>
          </a:p>
          <a:p>
            <a:pPr lvl="1"/>
            <a:r>
              <a:rPr lang="ko-KR" altLang="en-US" dirty="0"/>
              <a:t>자료형 지정</a:t>
            </a:r>
            <a:endParaRPr lang="en-US" altLang="ko-KR" dirty="0"/>
          </a:p>
          <a:p>
            <a:pPr lvl="1"/>
            <a:r>
              <a:rPr lang="en-US" altLang="ko-KR" dirty="0"/>
              <a:t>nullable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en-US" altLang="ko-KR" dirty="0"/>
              <a:t>when, -&gt;</a:t>
            </a:r>
          </a:p>
          <a:p>
            <a:pPr lvl="1"/>
            <a:r>
              <a:rPr lang="ko-KR" altLang="en-US" dirty="0"/>
              <a:t>메소드 생성</a:t>
            </a:r>
            <a:endParaRPr lang="en-US" altLang="ko-KR" dirty="0"/>
          </a:p>
          <a:p>
            <a:pPr lvl="1"/>
            <a:r>
              <a:rPr lang="en-US" altLang="ko-KR" dirty="0"/>
              <a:t>getter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setter</a:t>
            </a:r>
          </a:p>
          <a:p>
            <a:pPr lvl="1"/>
            <a:r>
              <a:rPr lang="ko-KR" altLang="en-US" dirty="0"/>
              <a:t>클래스 생성</a:t>
            </a:r>
            <a:endParaRPr lang="en-US" altLang="ko-KR" dirty="0"/>
          </a:p>
          <a:p>
            <a:pPr lvl="1"/>
            <a:r>
              <a:rPr lang="en-US" altLang="ko-KR" dirty="0"/>
              <a:t>static</a:t>
            </a:r>
          </a:p>
          <a:p>
            <a:pPr lvl="1"/>
            <a:r>
              <a:rPr lang="en-US" altLang="ko-KR" dirty="0"/>
              <a:t>Object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디자인 패턴</a:t>
            </a:r>
          </a:p>
        </p:txBody>
      </p:sp>
    </p:spTree>
    <p:extLst>
      <p:ext uri="{BB962C8B-B14F-4D97-AF65-F5344CB8AC3E}">
        <p14:creationId xmlns:p14="http://schemas.microsoft.com/office/powerpoint/2010/main" val="354231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A114D-1F9E-5270-C91F-3BA5D85955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</p:spTree>
    <p:extLst>
      <p:ext uri="{BB962C8B-B14F-4D97-AF65-F5344CB8AC3E}">
        <p14:creationId xmlns:p14="http://schemas.microsoft.com/office/powerpoint/2010/main" val="65802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92F59F-E0E7-39B2-3024-8851C8617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0814"/>
          </a:xfrm>
        </p:spPr>
        <p:txBody>
          <a:bodyPr/>
          <a:lstStyle/>
          <a:p>
            <a:r>
              <a:rPr lang="ko-KR" altLang="en-US" dirty="0"/>
              <a:t>변수 지정 </a:t>
            </a:r>
            <a:r>
              <a:rPr lang="en-US" altLang="ko-KR" dirty="0"/>
              <a:t>–</a:t>
            </a:r>
            <a:r>
              <a:rPr lang="ko-KR" altLang="en-US" dirty="0"/>
              <a:t> 아주 기초적인 형태</a:t>
            </a:r>
            <a:endParaRPr lang="en-US" altLang="ko-KR" dirty="0"/>
          </a:p>
          <a:p>
            <a:pPr lvl="1"/>
            <a:r>
              <a:rPr lang="en-US" altLang="ko-KR" dirty="0" err="1"/>
              <a:t>val</a:t>
            </a:r>
            <a:r>
              <a:rPr lang="en-US" altLang="ko-KR" dirty="0"/>
              <a:t> / var (</a:t>
            </a:r>
            <a:r>
              <a:rPr lang="ko-KR" altLang="en-US" dirty="0"/>
              <a:t>변수 이름</a:t>
            </a:r>
            <a:r>
              <a:rPr lang="en-US" altLang="ko-KR" dirty="0"/>
              <a:t>) : (</a:t>
            </a:r>
            <a:r>
              <a:rPr lang="ko-KR" altLang="en-US" dirty="0"/>
              <a:t>변수 자료형</a:t>
            </a:r>
            <a:r>
              <a:rPr lang="en-US" altLang="ko-KR" dirty="0"/>
              <a:t>) = (</a:t>
            </a:r>
            <a:r>
              <a:rPr lang="ko-KR" altLang="en-US" dirty="0"/>
              <a:t>기본 값</a:t>
            </a:r>
            <a:r>
              <a:rPr lang="en-US" altLang="ko-KR" dirty="0"/>
              <a:t>) </a:t>
            </a:r>
            <a:r>
              <a:rPr lang="ko-KR" altLang="en-US" dirty="0"/>
              <a:t>→ 기본적인 형태</a:t>
            </a:r>
            <a:endParaRPr lang="en-US" altLang="ko-KR" dirty="0"/>
          </a:p>
          <a:p>
            <a:pPr lvl="1"/>
            <a:r>
              <a:rPr lang="en-US" altLang="ko-KR" dirty="0" err="1"/>
              <a:t>val</a:t>
            </a:r>
            <a:r>
              <a:rPr lang="en-US" altLang="ko-KR" dirty="0"/>
              <a:t> / var (</a:t>
            </a:r>
            <a:r>
              <a:rPr lang="ko-KR" altLang="en-US" dirty="0"/>
              <a:t>변수 이름</a:t>
            </a:r>
            <a:r>
              <a:rPr lang="en-US" altLang="ko-KR" dirty="0"/>
              <a:t>) = (</a:t>
            </a:r>
            <a:r>
              <a:rPr lang="ko-KR" altLang="en-US" dirty="0"/>
              <a:t>기본 값</a:t>
            </a:r>
            <a:r>
              <a:rPr lang="en-US" altLang="ko-KR" dirty="0"/>
              <a:t>) </a:t>
            </a:r>
            <a:r>
              <a:rPr lang="ko-KR" altLang="en-US" dirty="0"/>
              <a:t>→ 자료형은 기본 값의 형태로 자동 지정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6709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2B9F-DD5A-E774-5164-A81C463C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5791D-92BC-CBE3-291C-95107A88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496F09-D008-46C1-59E9-730A7462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0814"/>
          </a:xfrm>
        </p:spPr>
        <p:txBody>
          <a:bodyPr/>
          <a:lstStyle/>
          <a:p>
            <a:r>
              <a:rPr lang="ko-KR" altLang="en-US" dirty="0"/>
              <a:t>변수 지정 </a:t>
            </a:r>
            <a:r>
              <a:rPr lang="en-US" altLang="ko-KR" dirty="0" err="1"/>
              <a:t>val</a:t>
            </a:r>
            <a:r>
              <a:rPr lang="en-US" altLang="ko-KR" dirty="0"/>
              <a:t>(value), var(variable)</a:t>
            </a:r>
          </a:p>
          <a:p>
            <a:pPr lvl="1"/>
            <a:r>
              <a:rPr lang="en-US" altLang="ko-KR" dirty="0" err="1"/>
              <a:t>val</a:t>
            </a:r>
            <a:r>
              <a:rPr lang="ko-KR" altLang="en-US" dirty="0"/>
              <a:t>과 </a:t>
            </a:r>
            <a:r>
              <a:rPr lang="en-US" altLang="ko-KR" dirty="0"/>
              <a:t>var</a:t>
            </a:r>
            <a:r>
              <a:rPr lang="ko-KR" altLang="en-US" dirty="0"/>
              <a:t>은 </a:t>
            </a:r>
            <a:r>
              <a:rPr lang="en-US" altLang="ko-KR" dirty="0"/>
              <a:t>Kotlin</a:t>
            </a:r>
            <a:r>
              <a:rPr lang="ko-KR" altLang="en-US" dirty="0"/>
              <a:t>에서 변수의 </a:t>
            </a:r>
            <a:r>
              <a:rPr lang="en-US" altLang="ko-KR" dirty="0"/>
              <a:t>‘</a:t>
            </a:r>
            <a:r>
              <a:rPr lang="ko-KR" altLang="en-US" dirty="0"/>
              <a:t>속성</a:t>
            </a:r>
            <a:r>
              <a:rPr lang="en-US" altLang="ko-KR" dirty="0"/>
              <a:t>’</a:t>
            </a:r>
            <a:r>
              <a:rPr lang="ko-KR" altLang="en-US" dirty="0"/>
              <a:t>을 선언해주는 역할을 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한번 지정되면 변하지 않는 속성의 변수는 </a:t>
            </a:r>
            <a:r>
              <a:rPr lang="en-US" altLang="ko-KR" dirty="0" err="1">
                <a:highlight>
                  <a:srgbClr val="FFFF00"/>
                </a:highlight>
              </a:rPr>
              <a:t>val</a:t>
            </a:r>
            <a:endParaRPr lang="en-US" altLang="ko-KR" dirty="0">
              <a:highlight>
                <a:srgbClr val="FFFF00"/>
              </a:highlight>
            </a:endParaRPr>
          </a:p>
          <a:p>
            <a:pPr lvl="1"/>
            <a:r>
              <a:rPr lang="ko-KR" altLang="en-US" dirty="0"/>
              <a:t>새로운 값이 언제든 들어갈 수 있는 속성의 변수는 </a:t>
            </a:r>
            <a:r>
              <a:rPr lang="en-US" altLang="ko-KR" dirty="0">
                <a:highlight>
                  <a:srgbClr val="FF0000"/>
                </a:highlight>
              </a:rPr>
              <a:t>var</a:t>
            </a:r>
            <a:endParaRPr lang="ko-KR" altLang="en-US" dirty="0">
              <a:highlight>
                <a:srgbClr val="FF0000"/>
              </a:highlight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AD30608-7E09-323A-BC24-313C6A94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13313"/>
            <a:ext cx="5925377" cy="22958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4B3E0D7-875C-8BB3-270F-3882CF79F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725" y="5242103"/>
            <a:ext cx="4829849" cy="638264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CF96A895-1350-5B2F-4ED0-B20CD2B43A76}"/>
              </a:ext>
            </a:extLst>
          </p:cNvPr>
          <p:cNvGrpSpPr/>
          <p:nvPr/>
        </p:nvGrpSpPr>
        <p:grpSpPr>
          <a:xfrm>
            <a:off x="3133311" y="3857687"/>
            <a:ext cx="5925377" cy="447737"/>
            <a:chOff x="3133311" y="3857687"/>
            <a:chExt cx="5925377" cy="44773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61413AA-56C2-E705-11DA-26B16B2A7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3311" y="3857687"/>
              <a:ext cx="5925377" cy="447737"/>
            </a:xfrm>
            <a:prstGeom prst="rect">
              <a:avLst/>
            </a:prstGeom>
          </p:spPr>
        </p:pic>
        <p:sp>
          <p:nvSpPr>
            <p:cNvPr id="13" name="액자 12">
              <a:extLst>
                <a:ext uri="{FF2B5EF4-FFF2-40B4-BE49-F238E27FC236}">
                  <a16:creationId xmlns:a16="http://schemas.microsoft.com/office/drawing/2014/main" id="{EFEA5817-96EB-5915-FAE5-15AB9FBDFB14}"/>
                </a:ext>
              </a:extLst>
            </p:cNvPr>
            <p:cNvSpPr/>
            <p:nvPr/>
          </p:nvSpPr>
          <p:spPr>
            <a:xfrm>
              <a:off x="3714051" y="3866290"/>
              <a:ext cx="302004" cy="197886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액자 13">
              <a:extLst>
                <a:ext uri="{FF2B5EF4-FFF2-40B4-BE49-F238E27FC236}">
                  <a16:creationId xmlns:a16="http://schemas.microsoft.com/office/drawing/2014/main" id="{4ABA5187-CEED-3199-1E23-0768E886855A}"/>
                </a:ext>
              </a:extLst>
            </p:cNvPr>
            <p:cNvSpPr/>
            <p:nvPr/>
          </p:nvSpPr>
          <p:spPr>
            <a:xfrm>
              <a:off x="3714052" y="4079087"/>
              <a:ext cx="302004" cy="197886"/>
            </a:xfrm>
            <a:prstGeom prst="frame">
              <a:avLst>
                <a:gd name="adj1" fmla="val 0"/>
              </a:avLst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57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92F59F-E0E7-39B2-3024-8851C8617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4125" cy="1717675"/>
          </a:xfrm>
        </p:spPr>
        <p:txBody>
          <a:bodyPr>
            <a:normAutofit/>
          </a:bodyPr>
          <a:lstStyle/>
          <a:p>
            <a:r>
              <a:rPr lang="ko-KR" altLang="en-US" dirty="0"/>
              <a:t>자료형 지정</a:t>
            </a:r>
            <a:endParaRPr lang="en-US" altLang="ko-KR" dirty="0"/>
          </a:p>
          <a:p>
            <a:pPr lvl="1"/>
            <a:r>
              <a:rPr lang="ko-KR" altLang="en-US" dirty="0"/>
              <a:t>기본적으로 자료형 추론 기능을 지원하여 지정 필요성이 낮습니다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변수 선언 때 바로 값을 넣지 않거나 </a:t>
            </a:r>
            <a:r>
              <a:rPr lang="en-US" altLang="ko-KR" dirty="0"/>
              <a:t>nullable </a:t>
            </a:r>
            <a:r>
              <a:rPr lang="ko-KR" altLang="en-US" dirty="0"/>
              <a:t>여부를 지정할 때</a:t>
            </a:r>
            <a:r>
              <a:rPr lang="en-US" altLang="ko-KR" dirty="0"/>
              <a:t> </a:t>
            </a:r>
            <a:r>
              <a:rPr lang="ko-KR" altLang="en-US" dirty="0"/>
              <a:t>등 자료형이 필요할 땐</a:t>
            </a:r>
            <a:r>
              <a:rPr lang="en-US" altLang="ko-KR" dirty="0"/>
              <a:t>, </a:t>
            </a:r>
            <a:r>
              <a:rPr lang="ko-KR" altLang="en-US" dirty="0"/>
              <a:t>변수 뒤 </a:t>
            </a:r>
            <a:r>
              <a:rPr lang="en-US" altLang="ko-KR" dirty="0"/>
              <a:t>‘:’</a:t>
            </a:r>
            <a:r>
              <a:rPr lang="ko-KR" altLang="en-US" dirty="0"/>
              <a:t>를 붙여 자료형을 지정합니다</a:t>
            </a:r>
            <a:r>
              <a:rPr lang="en-US" altLang="ko-KR" dirty="0"/>
              <a:t>.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14FE14-B590-11EC-EBF3-7E3EC93AA83A}"/>
              </a:ext>
            </a:extLst>
          </p:cNvPr>
          <p:cNvGrpSpPr/>
          <p:nvPr/>
        </p:nvGrpSpPr>
        <p:grpSpPr>
          <a:xfrm>
            <a:off x="3133311" y="3707509"/>
            <a:ext cx="5925377" cy="447737"/>
            <a:chOff x="3133311" y="3707509"/>
            <a:chExt cx="5925377" cy="44773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CE69083-F3FE-27C9-2510-861305F52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3311" y="3707509"/>
              <a:ext cx="5925377" cy="447737"/>
            </a:xfrm>
            <a:prstGeom prst="rect">
              <a:avLst/>
            </a:prstGeom>
          </p:spPr>
        </p:pic>
        <p:sp>
          <p:nvSpPr>
            <p:cNvPr id="13" name="액자 12">
              <a:extLst>
                <a:ext uri="{FF2B5EF4-FFF2-40B4-BE49-F238E27FC236}">
                  <a16:creationId xmlns:a16="http://schemas.microsoft.com/office/drawing/2014/main" id="{35BB051C-CDF6-19BC-A584-06755DEE54A9}"/>
                </a:ext>
              </a:extLst>
            </p:cNvPr>
            <p:cNvSpPr/>
            <p:nvPr/>
          </p:nvSpPr>
          <p:spPr>
            <a:xfrm>
              <a:off x="4867958" y="3924066"/>
              <a:ext cx="142192" cy="197886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5E8E71B-5041-27AD-1A48-D3211C87D7D3}"/>
              </a:ext>
            </a:extLst>
          </p:cNvPr>
          <p:cNvGrpSpPr/>
          <p:nvPr/>
        </p:nvGrpSpPr>
        <p:grpSpPr>
          <a:xfrm>
            <a:off x="3795390" y="4388533"/>
            <a:ext cx="4601217" cy="1467055"/>
            <a:chOff x="3795390" y="4388533"/>
            <a:chExt cx="4601217" cy="146705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40EC41A-E01C-D1A9-B19A-F53A26776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5390" y="4388533"/>
              <a:ext cx="4601217" cy="1467055"/>
            </a:xfrm>
            <a:prstGeom prst="rect">
              <a:avLst/>
            </a:prstGeom>
          </p:spPr>
        </p:pic>
        <p:sp>
          <p:nvSpPr>
            <p:cNvPr id="7" name="액자 6">
              <a:extLst>
                <a:ext uri="{FF2B5EF4-FFF2-40B4-BE49-F238E27FC236}">
                  <a16:creationId xmlns:a16="http://schemas.microsoft.com/office/drawing/2014/main" id="{369A4651-9AB6-23BB-1B1D-4C7D321B2FAC}"/>
                </a:ext>
              </a:extLst>
            </p:cNvPr>
            <p:cNvSpPr/>
            <p:nvPr/>
          </p:nvSpPr>
          <p:spPr>
            <a:xfrm>
              <a:off x="5491846" y="4388533"/>
              <a:ext cx="94567" cy="185848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액자 7">
              <a:extLst>
                <a:ext uri="{FF2B5EF4-FFF2-40B4-BE49-F238E27FC236}">
                  <a16:creationId xmlns:a16="http://schemas.microsoft.com/office/drawing/2014/main" id="{959385BD-88D5-C4BD-650F-17583AD2F738}"/>
                </a:ext>
              </a:extLst>
            </p:cNvPr>
            <p:cNvSpPr/>
            <p:nvPr/>
          </p:nvSpPr>
          <p:spPr>
            <a:xfrm>
              <a:off x="6024902" y="5023117"/>
              <a:ext cx="92529" cy="168008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액자 8">
              <a:extLst>
                <a:ext uri="{FF2B5EF4-FFF2-40B4-BE49-F238E27FC236}">
                  <a16:creationId xmlns:a16="http://schemas.microsoft.com/office/drawing/2014/main" id="{C77DE559-7A99-FE03-B1E2-C640A88F27FA}"/>
                </a:ext>
              </a:extLst>
            </p:cNvPr>
            <p:cNvSpPr/>
            <p:nvPr/>
          </p:nvSpPr>
          <p:spPr>
            <a:xfrm>
              <a:off x="5882710" y="5221002"/>
              <a:ext cx="84703" cy="398747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액자 10">
              <a:extLst>
                <a:ext uri="{FF2B5EF4-FFF2-40B4-BE49-F238E27FC236}">
                  <a16:creationId xmlns:a16="http://schemas.microsoft.com/office/drawing/2014/main" id="{7F7DA968-3B7A-5D52-C1C5-4E3990CD1191}"/>
                </a:ext>
              </a:extLst>
            </p:cNvPr>
            <p:cNvSpPr/>
            <p:nvPr/>
          </p:nvSpPr>
          <p:spPr>
            <a:xfrm>
              <a:off x="5727246" y="5661292"/>
              <a:ext cx="92529" cy="168008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049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97751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Null </a:t>
            </a:r>
            <a:r>
              <a:rPr lang="ko-KR" altLang="en-US" dirty="0"/>
              <a:t>처리 </a:t>
            </a:r>
            <a:r>
              <a:rPr lang="en-US" altLang="ko-KR" dirty="0"/>
              <a:t>(?, !!)</a:t>
            </a:r>
          </a:p>
          <a:p>
            <a:pPr lvl="1"/>
            <a:r>
              <a:rPr lang="en-US" altLang="ko-KR" dirty="0"/>
              <a:t>Kotlin</a:t>
            </a:r>
            <a:r>
              <a:rPr lang="ko-KR" altLang="en-US" dirty="0"/>
              <a:t>은 기본적으로 </a:t>
            </a:r>
            <a:r>
              <a:rPr lang="en-US" altLang="ko-KR" dirty="0"/>
              <a:t>null</a:t>
            </a:r>
            <a:r>
              <a:rPr lang="ko-KR" altLang="en-US" dirty="0"/>
              <a:t>을 인자로 받을 수 없습니다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변수에 </a:t>
            </a:r>
            <a:r>
              <a:rPr lang="en-US" altLang="ko-KR" dirty="0"/>
              <a:t>Null</a:t>
            </a:r>
            <a:r>
              <a:rPr lang="ko-KR" altLang="en-US" dirty="0"/>
              <a:t>이 올 수 있는 경우에는 아래의 형식을 따르면 됩니다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Null</a:t>
            </a:r>
            <a:r>
              <a:rPr lang="ko-KR" altLang="en-US" dirty="0"/>
              <a:t>이 가능한 변수</a:t>
            </a:r>
            <a:r>
              <a:rPr lang="en-US" altLang="ko-KR" dirty="0"/>
              <a:t> (Nullable) </a:t>
            </a:r>
            <a:r>
              <a:rPr lang="ko-KR" altLang="en-US" dirty="0"/>
              <a:t>임을 표현하는 </a:t>
            </a:r>
            <a:r>
              <a:rPr lang="en-US" altLang="ko-KR" dirty="0"/>
              <a:t>‘</a:t>
            </a:r>
            <a:r>
              <a:rPr lang="en-US" altLang="ko-KR" dirty="0">
                <a:highlight>
                  <a:srgbClr val="FF0000"/>
                </a:highlight>
              </a:rPr>
              <a:t>?’</a:t>
            </a:r>
          </a:p>
          <a:p>
            <a:pPr lvl="2"/>
            <a:r>
              <a:rPr lang="ko-KR" altLang="en-US" dirty="0"/>
              <a:t>강제로 </a:t>
            </a:r>
            <a:r>
              <a:rPr lang="en-US" altLang="ko-KR" dirty="0"/>
              <a:t>not null </a:t>
            </a:r>
            <a:r>
              <a:rPr lang="ko-KR" altLang="en-US" dirty="0"/>
              <a:t>처리를 의미하는 </a:t>
            </a:r>
            <a:r>
              <a:rPr lang="en-US" altLang="ko-KR" dirty="0"/>
              <a:t>‘</a:t>
            </a:r>
            <a:r>
              <a:rPr lang="en-US" altLang="ko-KR" dirty="0">
                <a:highlight>
                  <a:srgbClr val="FFFF00"/>
                </a:highlight>
              </a:rPr>
              <a:t>!!</a:t>
            </a:r>
            <a:r>
              <a:rPr lang="en-US" altLang="ko-KR" dirty="0"/>
              <a:t>’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31D46B-E487-D4EE-F020-8E1DCDF9C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259" y="3681554"/>
            <a:ext cx="4877481" cy="11316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DDDC2E9-CB10-80FE-2BC6-6CC9ABE84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600" y="5099487"/>
            <a:ext cx="5172797" cy="1105054"/>
          </a:xfrm>
          <a:prstGeom prst="rect">
            <a:avLst/>
          </a:prstGeom>
        </p:spPr>
      </p:pic>
      <p:sp>
        <p:nvSpPr>
          <p:cNvPr id="14" name="액자 13">
            <a:extLst>
              <a:ext uri="{FF2B5EF4-FFF2-40B4-BE49-F238E27FC236}">
                <a16:creationId xmlns:a16="http://schemas.microsoft.com/office/drawing/2014/main" id="{4FB59122-52EA-0B65-C8C0-B0C497A56B8D}"/>
              </a:ext>
            </a:extLst>
          </p:cNvPr>
          <p:cNvSpPr/>
          <p:nvPr/>
        </p:nvSpPr>
        <p:spPr>
          <a:xfrm>
            <a:off x="5793993" y="3681554"/>
            <a:ext cx="480971" cy="128110"/>
          </a:xfrm>
          <a:prstGeom prst="frame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액자 15">
            <a:extLst>
              <a:ext uri="{FF2B5EF4-FFF2-40B4-BE49-F238E27FC236}">
                <a16:creationId xmlns:a16="http://schemas.microsoft.com/office/drawing/2014/main" id="{1F6103DD-23DE-89B5-7D48-19185F58B2BE}"/>
              </a:ext>
            </a:extLst>
          </p:cNvPr>
          <p:cNvSpPr/>
          <p:nvPr/>
        </p:nvSpPr>
        <p:spPr>
          <a:xfrm>
            <a:off x="5313023" y="4614129"/>
            <a:ext cx="274046" cy="199069"/>
          </a:xfrm>
          <a:prstGeom prst="frame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액자 16">
            <a:extLst>
              <a:ext uri="{FF2B5EF4-FFF2-40B4-BE49-F238E27FC236}">
                <a16:creationId xmlns:a16="http://schemas.microsoft.com/office/drawing/2014/main" id="{0F2BDF05-DE12-EC22-B4BF-D9D7B1C561BA}"/>
              </a:ext>
            </a:extLst>
          </p:cNvPr>
          <p:cNvSpPr/>
          <p:nvPr/>
        </p:nvSpPr>
        <p:spPr>
          <a:xfrm>
            <a:off x="5711501" y="4071847"/>
            <a:ext cx="1083582" cy="128110"/>
          </a:xfrm>
          <a:prstGeom prst="frame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액자 17">
            <a:extLst>
              <a:ext uri="{FF2B5EF4-FFF2-40B4-BE49-F238E27FC236}">
                <a16:creationId xmlns:a16="http://schemas.microsoft.com/office/drawing/2014/main" id="{7E2AC026-3E70-0F7F-0BA4-B308A3FD76A6}"/>
              </a:ext>
            </a:extLst>
          </p:cNvPr>
          <p:cNvSpPr/>
          <p:nvPr/>
        </p:nvSpPr>
        <p:spPr>
          <a:xfrm>
            <a:off x="5587069" y="4278820"/>
            <a:ext cx="989900" cy="128110"/>
          </a:xfrm>
          <a:prstGeom prst="frame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액자 18">
            <a:extLst>
              <a:ext uri="{FF2B5EF4-FFF2-40B4-BE49-F238E27FC236}">
                <a16:creationId xmlns:a16="http://schemas.microsoft.com/office/drawing/2014/main" id="{5F57F2F0-A167-64BD-0B74-0897C1686471}"/>
              </a:ext>
            </a:extLst>
          </p:cNvPr>
          <p:cNvSpPr/>
          <p:nvPr/>
        </p:nvSpPr>
        <p:spPr>
          <a:xfrm>
            <a:off x="5053070" y="5099486"/>
            <a:ext cx="793952" cy="219133"/>
          </a:xfrm>
          <a:prstGeom prst="frame">
            <a:avLst>
              <a:gd name="adj1" fmla="val 0"/>
            </a:avLst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액자 19">
            <a:extLst>
              <a:ext uri="{FF2B5EF4-FFF2-40B4-BE49-F238E27FC236}">
                <a16:creationId xmlns:a16="http://schemas.microsoft.com/office/drawing/2014/main" id="{B46D4F7A-3D94-1C27-0347-7B34FBAA19AA}"/>
              </a:ext>
            </a:extLst>
          </p:cNvPr>
          <p:cNvSpPr/>
          <p:nvPr/>
        </p:nvSpPr>
        <p:spPr>
          <a:xfrm>
            <a:off x="3812897" y="5746837"/>
            <a:ext cx="793952" cy="219133"/>
          </a:xfrm>
          <a:prstGeom prst="frame">
            <a:avLst>
              <a:gd name="adj1" fmla="val 0"/>
            </a:avLst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014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9763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ko-KR" dirty="0"/>
              <a:t>Switch, case =</a:t>
            </a:r>
            <a:r>
              <a:rPr lang="ko-KR" altLang="en-US" dirty="0"/>
              <a:t> </a:t>
            </a:r>
            <a:r>
              <a:rPr lang="en-US" altLang="ko-KR" dirty="0"/>
              <a:t>when,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</a:p>
          <a:p>
            <a:pPr lvl="1"/>
            <a:r>
              <a:rPr lang="en-US" altLang="ko-KR" dirty="0"/>
              <a:t>JAVA</a:t>
            </a:r>
            <a:r>
              <a:rPr lang="ko-KR" altLang="en-US" dirty="0"/>
              <a:t>에서 쓰던 </a:t>
            </a:r>
            <a:r>
              <a:rPr lang="en-US" altLang="ko-KR" dirty="0"/>
              <a:t>switch, case</a:t>
            </a:r>
            <a:r>
              <a:rPr lang="ko-KR" altLang="en-US" dirty="0"/>
              <a:t>문이 </a:t>
            </a:r>
            <a:r>
              <a:rPr lang="en-US" altLang="ko-KR" dirty="0"/>
              <a:t>when, -&gt; </a:t>
            </a:r>
            <a:r>
              <a:rPr lang="ko-KR" altLang="en-US" dirty="0"/>
              <a:t>꼴로 바뀌었습니다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Switch</a:t>
            </a:r>
            <a:r>
              <a:rPr lang="ko-KR" altLang="en-US" dirty="0"/>
              <a:t>가 </a:t>
            </a:r>
            <a:r>
              <a:rPr lang="en-US" altLang="ko-KR" dirty="0"/>
              <a:t>when, case</a:t>
            </a:r>
            <a:r>
              <a:rPr lang="ko-KR" altLang="en-US" dirty="0"/>
              <a:t>가 </a:t>
            </a:r>
            <a:r>
              <a:rPr lang="en-US" altLang="ko-KR" dirty="0"/>
              <a:t>-&gt;</a:t>
            </a:r>
            <a:r>
              <a:rPr lang="ko-KR" altLang="en-US" dirty="0"/>
              <a:t>로 바뀌었다고 생각하면 됩니다</a:t>
            </a:r>
            <a:r>
              <a:rPr lang="en-US" altLang="ko-KR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359E21F-5FFE-9E91-EAFE-A6E13AC9E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5600" y="3634741"/>
            <a:ext cx="6620799" cy="212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3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9763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ko-KR" dirty="0"/>
              <a:t>Switch, case =</a:t>
            </a:r>
            <a:r>
              <a:rPr lang="ko-KR" altLang="en-US" dirty="0"/>
              <a:t> </a:t>
            </a:r>
            <a:r>
              <a:rPr lang="en-US" altLang="ko-KR" dirty="0"/>
              <a:t>when,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</a:p>
          <a:p>
            <a:pPr lvl="1"/>
            <a:r>
              <a:rPr lang="en-US" altLang="ko-KR" dirty="0"/>
              <a:t>JAVA</a:t>
            </a:r>
            <a:r>
              <a:rPr lang="ko-KR" altLang="en-US" dirty="0"/>
              <a:t>에서 쓰던 </a:t>
            </a:r>
            <a:r>
              <a:rPr lang="en-US" altLang="ko-KR" dirty="0"/>
              <a:t>switch, case</a:t>
            </a:r>
            <a:r>
              <a:rPr lang="ko-KR" altLang="en-US" dirty="0"/>
              <a:t>문이 </a:t>
            </a:r>
            <a:r>
              <a:rPr lang="en-US" altLang="ko-KR" dirty="0"/>
              <a:t>when, -&gt; </a:t>
            </a:r>
            <a:r>
              <a:rPr lang="ko-KR" altLang="en-US" dirty="0"/>
              <a:t>꼴로 바뀌었습니다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Switch</a:t>
            </a:r>
            <a:r>
              <a:rPr lang="ko-KR" altLang="en-US" dirty="0"/>
              <a:t>가 </a:t>
            </a:r>
            <a:r>
              <a:rPr lang="en-US" altLang="ko-KR" dirty="0"/>
              <a:t>when, case</a:t>
            </a:r>
            <a:r>
              <a:rPr lang="ko-KR" altLang="en-US" dirty="0"/>
              <a:t>가 </a:t>
            </a:r>
            <a:r>
              <a:rPr lang="en-US" altLang="ko-KR" dirty="0"/>
              <a:t>-&gt;</a:t>
            </a:r>
            <a:r>
              <a:rPr lang="ko-KR" altLang="en-US" dirty="0"/>
              <a:t>로 바뀌었다고 생각하면 됩니다</a:t>
            </a:r>
            <a:r>
              <a:rPr lang="en-US" altLang="ko-KR" dirty="0"/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8772F72-5162-9035-3BA4-F72CBB0A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601" y="3634741"/>
            <a:ext cx="6620798" cy="19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4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821"/>
            <a:ext cx="10515600" cy="1603375"/>
          </a:xfrm>
          <a:ln>
            <a:noFill/>
          </a:ln>
        </p:spPr>
        <p:txBody>
          <a:bodyPr>
            <a:normAutofit/>
          </a:bodyPr>
          <a:lstStyle/>
          <a:p>
            <a:r>
              <a:rPr lang="ko-KR" altLang="en-US" dirty="0"/>
              <a:t>함수</a:t>
            </a:r>
            <a:r>
              <a:rPr lang="en-US" altLang="ko-KR" dirty="0"/>
              <a:t>(</a:t>
            </a:r>
            <a:r>
              <a:rPr lang="ko-KR" altLang="en-US" dirty="0"/>
              <a:t>메소드</a:t>
            </a:r>
            <a:r>
              <a:rPr lang="en-US" altLang="ko-KR" dirty="0"/>
              <a:t>)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/>
              <a:t>Return</a:t>
            </a:r>
            <a:r>
              <a:rPr lang="ko-KR" altLang="en-US" dirty="0"/>
              <a:t>값이 없다면 </a:t>
            </a:r>
            <a:r>
              <a:rPr lang="en-US" altLang="ko-KR" dirty="0"/>
              <a:t>void </a:t>
            </a:r>
            <a:r>
              <a:rPr lang="ko-KR" altLang="en-US" dirty="0"/>
              <a:t>없이 </a:t>
            </a:r>
            <a:r>
              <a:rPr lang="en-US" altLang="ko-KR" dirty="0"/>
              <a:t>fun</a:t>
            </a:r>
            <a:r>
              <a:rPr lang="ko-KR" altLang="en-US" dirty="0"/>
              <a:t>만 붙여서 선언 가능합니다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Return</a:t>
            </a:r>
            <a:r>
              <a:rPr lang="ko-KR" altLang="en-US" dirty="0"/>
              <a:t>값이 있다면 </a:t>
            </a:r>
            <a:r>
              <a:rPr lang="en-US" altLang="ko-KR" dirty="0"/>
              <a:t>Kotlin</a:t>
            </a:r>
            <a:r>
              <a:rPr lang="ko-KR" altLang="en-US" dirty="0"/>
              <a:t>에서 사용하는 자료형 지정 기호 </a:t>
            </a:r>
            <a:r>
              <a:rPr lang="en-US" altLang="ko-KR" dirty="0"/>
              <a:t>‘:’ </a:t>
            </a:r>
            <a:r>
              <a:rPr lang="ko-KR" altLang="en-US" dirty="0"/>
              <a:t>를 사용해</a:t>
            </a:r>
            <a:r>
              <a:rPr lang="en-US" altLang="ko-KR" dirty="0"/>
              <a:t>return</a:t>
            </a:r>
            <a:r>
              <a:rPr lang="ko-KR" altLang="en-US" dirty="0"/>
              <a:t>값의 자료형을 지정해주면 됩니다</a:t>
            </a:r>
            <a:r>
              <a:rPr lang="en-US" altLang="ko-KR" dirty="0"/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6F3B211-B8AB-A4B5-4969-6A2412761C0D}"/>
              </a:ext>
            </a:extLst>
          </p:cNvPr>
          <p:cNvGrpSpPr/>
          <p:nvPr/>
        </p:nvGrpSpPr>
        <p:grpSpPr>
          <a:xfrm>
            <a:off x="838200" y="3563937"/>
            <a:ext cx="5820587" cy="2962688"/>
            <a:chOff x="838200" y="3563937"/>
            <a:chExt cx="5820587" cy="296268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745B556-974B-EBF5-64A6-B8A63D018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563937"/>
              <a:ext cx="5820587" cy="2962688"/>
            </a:xfrm>
            <a:prstGeom prst="rect">
              <a:avLst/>
            </a:prstGeom>
          </p:spPr>
        </p:pic>
        <p:sp>
          <p:nvSpPr>
            <p:cNvPr id="5" name="액자 4">
              <a:extLst>
                <a:ext uri="{FF2B5EF4-FFF2-40B4-BE49-F238E27FC236}">
                  <a16:creationId xmlns:a16="http://schemas.microsoft.com/office/drawing/2014/main" id="{4F2D56DC-3238-FB3F-3176-C0C4D9213DBD}"/>
                </a:ext>
              </a:extLst>
            </p:cNvPr>
            <p:cNvSpPr/>
            <p:nvPr/>
          </p:nvSpPr>
          <p:spPr>
            <a:xfrm>
              <a:off x="858962" y="3614167"/>
              <a:ext cx="274046" cy="199069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액자 5">
              <a:extLst>
                <a:ext uri="{FF2B5EF4-FFF2-40B4-BE49-F238E27FC236}">
                  <a16:creationId xmlns:a16="http://schemas.microsoft.com/office/drawing/2014/main" id="{287400CE-CCCB-D9FD-4A23-FB40980F5DB3}"/>
                </a:ext>
              </a:extLst>
            </p:cNvPr>
            <p:cNvSpPr/>
            <p:nvPr/>
          </p:nvSpPr>
          <p:spPr>
            <a:xfrm>
              <a:off x="858962" y="5686485"/>
              <a:ext cx="274046" cy="199069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312847CC-8E50-8D3E-1D2B-55B568233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2746" y="3563937"/>
            <a:ext cx="3873410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57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C008-10F6-C83E-07BB-72090357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071B2-E2E1-F13C-9868-0DEB24AE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6C39FA4-9271-376D-14F2-B631D3AA8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069"/>
            <a:ext cx="10515600" cy="2211795"/>
          </a:xfrm>
          <a:ln>
            <a:noFill/>
          </a:ln>
        </p:spPr>
        <p:txBody>
          <a:bodyPr>
            <a:normAutofit lnSpcReduction="10000"/>
          </a:bodyPr>
          <a:lstStyle/>
          <a:p>
            <a:r>
              <a:rPr lang="ko-KR" altLang="en-US" dirty="0"/>
              <a:t>함수</a:t>
            </a:r>
            <a:r>
              <a:rPr lang="en-US" altLang="ko-KR" dirty="0"/>
              <a:t>(</a:t>
            </a:r>
            <a:r>
              <a:rPr lang="ko-KR" altLang="en-US" dirty="0"/>
              <a:t>메소드</a:t>
            </a:r>
            <a:r>
              <a:rPr lang="en-US" altLang="ko-KR" dirty="0"/>
              <a:t>)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/>
              <a:t>Return</a:t>
            </a:r>
            <a:r>
              <a:rPr lang="ko-KR" altLang="en-US" dirty="0"/>
              <a:t>값을 여타 언어들처럼 변수로 지정해서 넣어줘도 되지만</a:t>
            </a:r>
            <a:r>
              <a:rPr lang="en-US" altLang="ko-KR" dirty="0"/>
              <a:t>, </a:t>
            </a:r>
            <a:r>
              <a:rPr lang="en-US" altLang="ko-KR" dirty="0" err="1"/>
              <a:t>kotlin</a:t>
            </a:r>
            <a:r>
              <a:rPr lang="ko-KR" altLang="en-US" dirty="0"/>
              <a:t>에서는 </a:t>
            </a:r>
            <a:r>
              <a:rPr lang="en-US" altLang="ko-KR" dirty="0"/>
              <a:t>return</a:t>
            </a:r>
            <a:r>
              <a:rPr lang="ko-KR" altLang="en-US" dirty="0"/>
              <a:t>되는 값만 확실하다면 함수 형태로도 바로 넘겨줄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조건문에서는 </a:t>
            </a:r>
            <a:r>
              <a:rPr lang="en-US" altLang="ko-KR" dirty="0"/>
              <a:t>return </a:t>
            </a:r>
            <a:r>
              <a:rPr lang="ko-KR" altLang="en-US" dirty="0"/>
              <a:t>값에 예외를 두지 않기 위해 반드시 </a:t>
            </a:r>
            <a:r>
              <a:rPr lang="en-US" altLang="ko-KR" dirty="0"/>
              <a:t>else </a:t>
            </a:r>
            <a:r>
              <a:rPr lang="ko-KR" altLang="en-US" dirty="0"/>
              <a:t>조건을 삽입해야 합니다</a:t>
            </a:r>
            <a:r>
              <a:rPr lang="en-US" altLang="ko-KR" dirty="0"/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4C0923C-E44E-9B53-98E1-30B47432C3C0}"/>
              </a:ext>
            </a:extLst>
          </p:cNvPr>
          <p:cNvGrpSpPr/>
          <p:nvPr/>
        </p:nvGrpSpPr>
        <p:grpSpPr>
          <a:xfrm>
            <a:off x="3185706" y="3806738"/>
            <a:ext cx="5820587" cy="2962688"/>
            <a:chOff x="838200" y="3563937"/>
            <a:chExt cx="5820587" cy="296268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ABD1282-FF5A-2293-969F-736AF3B12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563937"/>
              <a:ext cx="5820587" cy="2962688"/>
            </a:xfrm>
            <a:prstGeom prst="rect">
              <a:avLst/>
            </a:prstGeom>
          </p:spPr>
        </p:pic>
        <p:sp>
          <p:nvSpPr>
            <p:cNvPr id="5" name="액자 4">
              <a:extLst>
                <a:ext uri="{FF2B5EF4-FFF2-40B4-BE49-F238E27FC236}">
                  <a16:creationId xmlns:a16="http://schemas.microsoft.com/office/drawing/2014/main" id="{A4C03577-905A-069D-CB11-E5945660CDC9}"/>
                </a:ext>
              </a:extLst>
            </p:cNvPr>
            <p:cNvSpPr/>
            <p:nvPr/>
          </p:nvSpPr>
          <p:spPr>
            <a:xfrm>
              <a:off x="1153208" y="3813236"/>
              <a:ext cx="1046528" cy="189421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81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4808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ko-KR" dirty="0"/>
              <a:t>Getter &amp; Setter</a:t>
            </a:r>
          </a:p>
          <a:p>
            <a:pPr lvl="1"/>
            <a:r>
              <a:rPr lang="en-US" altLang="ko-KR" dirty="0"/>
              <a:t>Kotlin</a:t>
            </a:r>
            <a:r>
              <a:rPr lang="ko-KR" altLang="en-US" dirty="0"/>
              <a:t>에서는 클래스 선언 방식에 따라 </a:t>
            </a:r>
            <a:r>
              <a:rPr lang="en-US" altLang="ko-KR" dirty="0"/>
              <a:t>Getter</a:t>
            </a:r>
            <a:r>
              <a:rPr lang="ko-KR" altLang="en-US" dirty="0"/>
              <a:t>와 </a:t>
            </a:r>
            <a:r>
              <a:rPr lang="en-US" altLang="ko-KR" dirty="0"/>
              <a:t>Setter</a:t>
            </a:r>
            <a:r>
              <a:rPr lang="ko-KR" altLang="en-US" dirty="0"/>
              <a:t>의 생성 유무를 자동으로 판단하고 컴파일 시 자동 생성해줍니다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  =&gt; </a:t>
            </a:r>
            <a:r>
              <a:rPr lang="en-US" altLang="ko-KR" u="sng" dirty="0" err="1"/>
              <a:t>val</a:t>
            </a:r>
            <a:r>
              <a:rPr lang="ko-KR" altLang="en-US" u="sng" dirty="0"/>
              <a:t>과 </a:t>
            </a:r>
            <a:r>
              <a:rPr lang="en-US" altLang="ko-KR" u="sng" dirty="0"/>
              <a:t>var</a:t>
            </a:r>
            <a:r>
              <a:rPr lang="ko-KR" altLang="en-US" u="sng" dirty="0"/>
              <a:t>이 속성으로서 </a:t>
            </a:r>
            <a:r>
              <a:rPr lang="en-US" altLang="ko-KR" u="sng" dirty="0"/>
              <a:t>getter</a:t>
            </a:r>
            <a:r>
              <a:rPr lang="ko-KR" altLang="en-US" u="sng" dirty="0"/>
              <a:t>와 </a:t>
            </a:r>
            <a:r>
              <a:rPr lang="en-US" altLang="ko-KR" u="sng" dirty="0"/>
              <a:t>setter</a:t>
            </a:r>
            <a:r>
              <a:rPr lang="ko-KR" altLang="en-US" u="sng" dirty="0"/>
              <a:t>를 이미 가지고 있기 때문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F9B0E6E-D60F-8FFF-18BC-4B6219372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893" y="3429000"/>
            <a:ext cx="2840214" cy="321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00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472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ko-KR" dirty="0"/>
              <a:t>Getter &amp; Setter</a:t>
            </a:r>
          </a:p>
          <a:p>
            <a:pPr lvl="1"/>
            <a:r>
              <a:rPr lang="ko-KR" altLang="en-US" dirty="0"/>
              <a:t>따라서 </a:t>
            </a:r>
            <a:r>
              <a:rPr lang="en-US" altLang="ko-KR" dirty="0"/>
              <a:t>set</a:t>
            </a:r>
            <a:r>
              <a:rPr lang="ko-KR" altLang="en-US" dirty="0"/>
              <a:t>은 </a:t>
            </a:r>
            <a:r>
              <a:rPr lang="en-US" altLang="ko-KR" dirty="0"/>
              <a:t>“</a:t>
            </a:r>
            <a:r>
              <a:rPr lang="ko-KR" altLang="en-US" dirty="0"/>
              <a:t>클래스</a:t>
            </a:r>
            <a:r>
              <a:rPr lang="en-US" altLang="ko-KR" dirty="0"/>
              <a:t>.</a:t>
            </a:r>
            <a:r>
              <a:rPr lang="ko-KR" altLang="en-US" dirty="0"/>
              <a:t>변수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= ‘</a:t>
            </a:r>
            <a:r>
              <a:rPr lang="ko-KR" altLang="en-US" dirty="0"/>
              <a:t>넣을 값</a:t>
            </a:r>
            <a:r>
              <a:rPr lang="en-US" altLang="ko-KR" dirty="0"/>
              <a:t>’, get</a:t>
            </a:r>
            <a:r>
              <a:rPr lang="ko-KR" altLang="en-US" dirty="0"/>
              <a:t>은 </a:t>
            </a:r>
            <a:r>
              <a:rPr lang="en-US" altLang="ko-KR" dirty="0"/>
              <a:t>“</a:t>
            </a:r>
            <a:r>
              <a:rPr lang="ko-KR" altLang="en-US" dirty="0"/>
              <a:t>클래스</a:t>
            </a:r>
            <a:r>
              <a:rPr lang="en-US" altLang="ko-KR" dirty="0"/>
              <a:t>.</a:t>
            </a:r>
            <a:r>
              <a:rPr lang="ko-KR" altLang="en-US" dirty="0"/>
              <a:t>변수</a:t>
            </a:r>
            <a:r>
              <a:rPr lang="en-US" altLang="ko-KR" dirty="0"/>
              <a:t>”</a:t>
            </a:r>
            <a:r>
              <a:rPr lang="ko-KR" altLang="en-US" dirty="0"/>
              <a:t> 만 해줘도 값을 </a:t>
            </a:r>
            <a:r>
              <a:rPr lang="en-US" altLang="ko-KR" dirty="0"/>
              <a:t>set </a:t>
            </a:r>
            <a:r>
              <a:rPr lang="ko-KR" altLang="en-US" dirty="0"/>
              <a:t>또는 </a:t>
            </a:r>
            <a:r>
              <a:rPr lang="en-US" altLang="ko-KR" dirty="0"/>
              <a:t>get</a:t>
            </a:r>
            <a:r>
              <a:rPr lang="ko-KR" altLang="en-US" dirty="0"/>
              <a:t>할 수 있습니다</a:t>
            </a:r>
            <a:r>
              <a:rPr lang="en-US" altLang="ko-KR" dirty="0"/>
              <a:t>.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FFCA8E8-6F6E-3124-14FF-AFC096F38A4F}"/>
              </a:ext>
            </a:extLst>
          </p:cNvPr>
          <p:cNvGrpSpPr/>
          <p:nvPr/>
        </p:nvGrpSpPr>
        <p:grpSpPr>
          <a:xfrm>
            <a:off x="3292350" y="4654548"/>
            <a:ext cx="5607300" cy="1423681"/>
            <a:chOff x="3292350" y="4654548"/>
            <a:chExt cx="5607300" cy="142368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106ED3C-4640-D4F8-F156-D8B035E16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2350" y="4654548"/>
              <a:ext cx="5607300" cy="34131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A0A04CD-2E0E-244E-7023-4EB4812C8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2350" y="5259386"/>
              <a:ext cx="5607299" cy="818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673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4066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ko-KR" dirty="0"/>
              <a:t>Getter &amp; Setter</a:t>
            </a:r>
          </a:p>
          <a:p>
            <a:pPr lvl="1"/>
            <a:r>
              <a:rPr lang="ko-KR" altLang="en-US" dirty="0"/>
              <a:t>이 때 물론 클래스 변수의 형태가 </a:t>
            </a:r>
            <a:r>
              <a:rPr lang="en-US" altLang="ko-KR" dirty="0" err="1"/>
              <a:t>val</a:t>
            </a:r>
            <a:r>
              <a:rPr lang="ko-KR" altLang="en-US" dirty="0"/>
              <a:t>이라면 불변 값이기에 </a:t>
            </a:r>
            <a:r>
              <a:rPr lang="en-US" altLang="ko-KR" dirty="0"/>
              <a:t>getter</a:t>
            </a:r>
            <a:r>
              <a:rPr lang="ko-KR" altLang="en-US" dirty="0"/>
              <a:t>만</a:t>
            </a:r>
            <a:r>
              <a:rPr lang="en-US" altLang="ko-KR" dirty="0"/>
              <a:t>, var</a:t>
            </a:r>
            <a:r>
              <a:rPr lang="ko-KR" altLang="en-US" dirty="0"/>
              <a:t>이라면 </a:t>
            </a:r>
            <a:r>
              <a:rPr lang="en-US" altLang="ko-KR" dirty="0"/>
              <a:t>getter</a:t>
            </a:r>
            <a:r>
              <a:rPr lang="ko-KR" altLang="en-US" dirty="0"/>
              <a:t>와 </a:t>
            </a:r>
            <a:r>
              <a:rPr lang="en-US" altLang="ko-KR" dirty="0"/>
              <a:t>setter </a:t>
            </a:r>
            <a:r>
              <a:rPr lang="ko-KR" altLang="en-US" dirty="0"/>
              <a:t>모두 가능합니다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형태를 지정하지 않는다면 해당 변수는 클래스 생성 시의 생성자 매개변수로 쓰이므로 </a:t>
            </a:r>
            <a:r>
              <a:rPr lang="en-US" altLang="ko-KR" dirty="0"/>
              <a:t>getter</a:t>
            </a:r>
            <a:r>
              <a:rPr lang="ko-KR" altLang="en-US" dirty="0"/>
              <a:t>와 </a:t>
            </a:r>
            <a:r>
              <a:rPr lang="en-US" altLang="ko-KR" dirty="0"/>
              <a:t>setter</a:t>
            </a:r>
            <a:r>
              <a:rPr lang="ko-KR" altLang="en-US" dirty="0"/>
              <a:t>는 불가능합니다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3" name="표 7">
            <a:extLst>
              <a:ext uri="{FF2B5EF4-FFF2-40B4-BE49-F238E27FC236}">
                <a16:creationId xmlns:a16="http://schemas.microsoft.com/office/drawing/2014/main" id="{40F5D0F4-1203-9343-67DF-7BCB76487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743427"/>
              </p:ext>
            </p:extLst>
          </p:nvPr>
        </p:nvGraphicFramePr>
        <p:xfrm>
          <a:off x="838200" y="4687200"/>
          <a:ext cx="10515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072220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024388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495725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26480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선언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Getter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Setter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대입인자 유형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061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class </a:t>
                      </a:r>
                      <a:r>
                        <a:rPr lang="ko-KR" altLang="en-US" sz="1400" dirty="0"/>
                        <a:t>클래스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변수</a:t>
                      </a:r>
                      <a:r>
                        <a:rPr lang="en-US" altLang="ko-KR" sz="1400" dirty="0"/>
                        <a:t>:</a:t>
                      </a:r>
                      <a:r>
                        <a:rPr lang="ko-KR" altLang="en-US" sz="1400" dirty="0"/>
                        <a:t>자료형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생성자 매개변수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99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class </a:t>
                      </a:r>
                      <a:r>
                        <a:rPr lang="ko-KR" altLang="en-US" sz="1400" dirty="0"/>
                        <a:t>클래스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val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변수</a:t>
                      </a:r>
                      <a:r>
                        <a:rPr lang="en-US" altLang="ko-KR" sz="1400" dirty="0"/>
                        <a:t>:</a:t>
                      </a:r>
                      <a:r>
                        <a:rPr lang="ko-KR" altLang="en-US" sz="1400" dirty="0"/>
                        <a:t>자료형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클래스 내 속성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03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class </a:t>
                      </a:r>
                      <a:r>
                        <a:rPr lang="ko-KR" altLang="en-US" sz="1400" dirty="0"/>
                        <a:t>클래스</a:t>
                      </a:r>
                      <a:r>
                        <a:rPr lang="en-US" altLang="ko-KR" sz="1400" dirty="0"/>
                        <a:t>(var </a:t>
                      </a:r>
                      <a:r>
                        <a:rPr lang="ko-KR" altLang="en-US" sz="1400" dirty="0"/>
                        <a:t>변수</a:t>
                      </a:r>
                      <a:r>
                        <a:rPr lang="en-US" altLang="ko-KR" sz="1400" dirty="0"/>
                        <a:t>:</a:t>
                      </a:r>
                      <a:r>
                        <a:rPr lang="ko-KR" altLang="en-US" sz="1400" dirty="0"/>
                        <a:t>자료형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클래스 내 속성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108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480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8"/>
            <a:ext cx="10515600" cy="1197866"/>
          </a:xfrm>
          <a:ln>
            <a:noFill/>
          </a:ln>
        </p:spPr>
        <p:txBody>
          <a:bodyPr>
            <a:normAutofit/>
          </a:bodyPr>
          <a:lstStyle/>
          <a:p>
            <a:r>
              <a:rPr lang="ko-KR" altLang="en-US" dirty="0"/>
              <a:t>클래스 상속</a:t>
            </a:r>
            <a:endParaRPr lang="en-US" altLang="ko-KR" dirty="0"/>
          </a:p>
          <a:p>
            <a:pPr lvl="1"/>
            <a:r>
              <a:rPr lang="ko-KR" altLang="en-US" dirty="0"/>
              <a:t>클래스의 자료형을 지정해주는 느낌으로</a:t>
            </a:r>
            <a:r>
              <a:rPr lang="en-US" altLang="ko-KR" dirty="0"/>
              <a:t>, </a:t>
            </a:r>
            <a:r>
              <a:rPr lang="ko-KR" altLang="en-US" dirty="0"/>
              <a:t>변수의 자료형을 지정해 주듯이 </a:t>
            </a:r>
            <a:r>
              <a:rPr lang="en-US" altLang="ko-KR" dirty="0"/>
              <a:t>‘:’</a:t>
            </a:r>
            <a:r>
              <a:rPr lang="ko-KR" altLang="en-US" dirty="0"/>
              <a:t>을 이용합니다</a:t>
            </a:r>
            <a:r>
              <a:rPr lang="en-US" altLang="ko-KR" dirty="0"/>
              <a:t>.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2641C49-E0B5-01FB-B686-B2B29D357D88}"/>
              </a:ext>
            </a:extLst>
          </p:cNvPr>
          <p:cNvGrpSpPr/>
          <p:nvPr/>
        </p:nvGrpSpPr>
        <p:grpSpPr>
          <a:xfrm>
            <a:off x="2837995" y="3429000"/>
            <a:ext cx="6516009" cy="1457528"/>
            <a:chOff x="2837995" y="3429000"/>
            <a:chExt cx="6516009" cy="145752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DB007A6-BEC3-9A76-1394-50B72CA40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37995" y="3429000"/>
              <a:ext cx="6516009" cy="1457528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06A7EEBA-47B6-0B27-678E-5C0616962D3D}"/>
                </a:ext>
              </a:extLst>
            </p:cNvPr>
            <p:cNvCxnSpPr/>
            <p:nvPr/>
          </p:nvCxnSpPr>
          <p:spPr>
            <a:xfrm>
              <a:off x="6753225" y="3630611"/>
              <a:ext cx="24669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478721-3002-28AB-6E27-EC7D2FCA8B12}"/>
              </a:ext>
            </a:extLst>
          </p:cNvPr>
          <p:cNvGrpSpPr/>
          <p:nvPr/>
        </p:nvGrpSpPr>
        <p:grpSpPr>
          <a:xfrm>
            <a:off x="2837995" y="5021478"/>
            <a:ext cx="6516009" cy="900360"/>
            <a:chOff x="2837995" y="5021478"/>
            <a:chExt cx="6516009" cy="90036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CAD3FD8-DFE7-DED6-4956-CE68C87B3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37995" y="5021478"/>
              <a:ext cx="6516009" cy="900360"/>
            </a:xfrm>
            <a:prstGeom prst="rect">
              <a:avLst/>
            </a:prstGeom>
          </p:spPr>
        </p:pic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4F6E400-0710-A6D1-DDA7-6EE1282A588D}"/>
                </a:ext>
              </a:extLst>
            </p:cNvPr>
            <p:cNvCxnSpPr>
              <a:cxnSpLocks/>
            </p:cNvCxnSpPr>
            <p:nvPr/>
          </p:nvCxnSpPr>
          <p:spPr>
            <a:xfrm>
              <a:off x="4682542" y="5217529"/>
              <a:ext cx="453765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1671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8"/>
            <a:ext cx="10515600" cy="1731630"/>
          </a:xfrm>
          <a:ln>
            <a:noFill/>
          </a:ln>
        </p:spPr>
        <p:txBody>
          <a:bodyPr>
            <a:normAutofit/>
          </a:bodyPr>
          <a:lstStyle/>
          <a:p>
            <a:r>
              <a:rPr lang="ko-KR" altLang="en-US" dirty="0"/>
              <a:t>정적</a:t>
            </a:r>
            <a:r>
              <a:rPr lang="en-US" altLang="ko-KR" dirty="0"/>
              <a:t>(static)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/>
              <a:t>companion object</a:t>
            </a:r>
            <a:r>
              <a:rPr lang="ko-KR" altLang="en-US" dirty="0"/>
              <a:t>는 </a:t>
            </a:r>
            <a:r>
              <a:rPr lang="en-US" altLang="ko-KR" dirty="0"/>
              <a:t>JAVA</a:t>
            </a:r>
            <a:r>
              <a:rPr lang="ko-KR" altLang="en-US" dirty="0"/>
              <a:t>에서 </a:t>
            </a:r>
            <a:r>
              <a:rPr lang="en-US" altLang="ko-KR" dirty="0"/>
              <a:t>static</a:t>
            </a:r>
            <a:r>
              <a:rPr lang="ko-KR" altLang="en-US" dirty="0"/>
              <a:t>과 같은 역할을 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const</a:t>
            </a:r>
            <a:r>
              <a:rPr lang="ko-KR" altLang="en-US" dirty="0"/>
              <a:t>는 해당 객체를 런타임이 아닌 컴파일 타임에 초기화 시킬 때 지정해줍니다</a:t>
            </a:r>
            <a:r>
              <a:rPr lang="en-US" altLang="ko-KR" dirty="0"/>
              <a:t>. (JAVA</a:t>
            </a:r>
            <a:r>
              <a:rPr lang="ko-KR" altLang="en-US" dirty="0"/>
              <a:t>화 시키면 </a:t>
            </a:r>
            <a:r>
              <a:rPr lang="en-US" altLang="ko-KR" dirty="0"/>
              <a:t>static final)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22BB810-B341-85BC-89B1-EA011063974A}"/>
              </a:ext>
            </a:extLst>
          </p:cNvPr>
          <p:cNvGrpSpPr/>
          <p:nvPr/>
        </p:nvGrpSpPr>
        <p:grpSpPr>
          <a:xfrm>
            <a:off x="2837995" y="4049784"/>
            <a:ext cx="6516009" cy="1457528"/>
            <a:chOff x="2837995" y="4049784"/>
            <a:chExt cx="6516009" cy="145752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DB007A6-BEC3-9A76-1394-50B72CA40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37995" y="4049784"/>
              <a:ext cx="6516009" cy="1457528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06A7EEBA-47B6-0B27-678E-5C0616962D3D}"/>
                </a:ext>
              </a:extLst>
            </p:cNvPr>
            <p:cNvCxnSpPr>
              <a:cxnSpLocks/>
            </p:cNvCxnSpPr>
            <p:nvPr/>
          </p:nvCxnSpPr>
          <p:spPr>
            <a:xfrm>
              <a:off x="3155833" y="4469509"/>
              <a:ext cx="125900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740114C-57AF-B422-0939-8CD0D2B5C153}"/>
                </a:ext>
              </a:extLst>
            </p:cNvPr>
            <p:cNvCxnSpPr>
              <a:cxnSpLocks/>
            </p:cNvCxnSpPr>
            <p:nvPr/>
          </p:nvCxnSpPr>
          <p:spPr>
            <a:xfrm>
              <a:off x="4080021" y="4655465"/>
              <a:ext cx="399700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34D1794-6A9E-9739-7846-CDC4907235EB}"/>
                </a:ext>
              </a:extLst>
            </p:cNvPr>
            <p:cNvCxnSpPr>
              <a:cxnSpLocks/>
            </p:cNvCxnSpPr>
            <p:nvPr/>
          </p:nvCxnSpPr>
          <p:spPr>
            <a:xfrm>
              <a:off x="3460634" y="4866588"/>
              <a:ext cx="399700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8D51C12A-501C-FBF8-DF7A-90187451DD36}"/>
                </a:ext>
              </a:extLst>
            </p:cNvPr>
            <p:cNvCxnSpPr>
              <a:cxnSpLocks/>
            </p:cNvCxnSpPr>
            <p:nvPr/>
          </p:nvCxnSpPr>
          <p:spPr>
            <a:xfrm>
              <a:off x="4080021" y="5067924"/>
              <a:ext cx="399700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CAE272E0-327D-9760-4CE9-DC20C611EE56}"/>
                </a:ext>
              </a:extLst>
            </p:cNvPr>
            <p:cNvCxnSpPr>
              <a:cxnSpLocks/>
            </p:cNvCxnSpPr>
            <p:nvPr/>
          </p:nvCxnSpPr>
          <p:spPr>
            <a:xfrm>
              <a:off x="3460634" y="5294427"/>
              <a:ext cx="399700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2593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8"/>
            <a:ext cx="10515600" cy="1731630"/>
          </a:xfrm>
          <a:ln>
            <a:noFill/>
          </a:ln>
        </p:spPr>
        <p:txBody>
          <a:bodyPr>
            <a:normAutofit/>
          </a:bodyPr>
          <a:lstStyle/>
          <a:p>
            <a:r>
              <a:rPr lang="ko-KR" altLang="en-US" dirty="0"/>
              <a:t>정적</a:t>
            </a:r>
            <a:r>
              <a:rPr lang="en-US" altLang="ko-KR" dirty="0"/>
              <a:t>(static)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/>
              <a:t>companion object</a:t>
            </a:r>
            <a:r>
              <a:rPr lang="ko-KR" altLang="en-US" dirty="0"/>
              <a:t>는 </a:t>
            </a:r>
            <a:r>
              <a:rPr lang="en-US" altLang="ko-KR" dirty="0"/>
              <a:t>JAVA</a:t>
            </a:r>
            <a:r>
              <a:rPr lang="ko-KR" altLang="en-US" dirty="0"/>
              <a:t>에서 </a:t>
            </a:r>
            <a:r>
              <a:rPr lang="en-US" altLang="ko-KR" dirty="0"/>
              <a:t>static</a:t>
            </a:r>
            <a:r>
              <a:rPr lang="ko-KR" altLang="en-US" dirty="0"/>
              <a:t>과 같은 역할을 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const</a:t>
            </a:r>
            <a:r>
              <a:rPr lang="ko-KR" altLang="en-US" dirty="0"/>
              <a:t>는 해당 객체를 런타임이 아닌 컴파일 타임에 초기화 시킬 때 지정해줍니다</a:t>
            </a:r>
            <a:r>
              <a:rPr lang="en-US" altLang="ko-KR" dirty="0"/>
              <a:t>. (JAVA</a:t>
            </a:r>
            <a:r>
              <a:rPr lang="ko-KR" altLang="en-US" dirty="0"/>
              <a:t>화 시키면 </a:t>
            </a:r>
            <a:r>
              <a:rPr lang="en-US" altLang="ko-KR" dirty="0"/>
              <a:t>static final)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E47547-CAD7-C9FD-13A1-D34984F5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013" y="3885926"/>
            <a:ext cx="3067478" cy="20862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DAD6C8C-88A4-AB61-6273-C894CC522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511" y="3557268"/>
            <a:ext cx="2553056" cy="27435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200D64-8536-5B73-13F4-40E77CEBC62D}"/>
              </a:ext>
            </a:extLst>
          </p:cNvPr>
          <p:cNvSpPr txBox="1"/>
          <p:nvPr/>
        </p:nvSpPr>
        <p:spPr>
          <a:xfrm>
            <a:off x="3494030" y="6300850"/>
            <a:ext cx="100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&lt;JAVA&gt;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E1FC-51EA-DEB9-3755-9067EF87235B}"/>
              </a:ext>
            </a:extLst>
          </p:cNvPr>
          <p:cNvSpPr txBox="1"/>
          <p:nvPr/>
        </p:nvSpPr>
        <p:spPr>
          <a:xfrm>
            <a:off x="7383676" y="6300850"/>
            <a:ext cx="110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&lt;Kotlin&gt;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6709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8"/>
            <a:ext cx="10515600" cy="106017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ko-KR" dirty="0"/>
              <a:t>object</a:t>
            </a:r>
          </a:p>
          <a:p>
            <a:pPr lvl="1"/>
            <a:r>
              <a:rPr lang="ko-KR" altLang="en-US" dirty="0"/>
              <a:t>말 그대로 해당 변수를 객체로 지정한다는 의미입니다</a:t>
            </a:r>
            <a:r>
              <a:rPr lang="en-US" altLang="ko-KR" dirty="0"/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44F3121-86A7-DD2F-0B7C-D29F90FE2C80}"/>
              </a:ext>
            </a:extLst>
          </p:cNvPr>
          <p:cNvGrpSpPr/>
          <p:nvPr/>
        </p:nvGrpSpPr>
        <p:grpSpPr>
          <a:xfrm>
            <a:off x="3009469" y="2885813"/>
            <a:ext cx="6173061" cy="3762900"/>
            <a:chOff x="3009469" y="2885813"/>
            <a:chExt cx="6173061" cy="37629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84BACDA-8751-D586-EFB4-92DB0774B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9469" y="2885813"/>
              <a:ext cx="6173061" cy="3762900"/>
            </a:xfrm>
            <a:prstGeom prst="rect">
              <a:avLst/>
            </a:prstGeom>
          </p:spPr>
        </p:pic>
        <p:sp>
          <p:nvSpPr>
            <p:cNvPr id="8" name="액자 7">
              <a:extLst>
                <a:ext uri="{FF2B5EF4-FFF2-40B4-BE49-F238E27FC236}">
                  <a16:creationId xmlns:a16="http://schemas.microsoft.com/office/drawing/2014/main" id="{1F0D339E-8A4B-20A1-5EFC-7FB977A96D33}"/>
                </a:ext>
              </a:extLst>
            </p:cNvPr>
            <p:cNvSpPr/>
            <p:nvPr/>
          </p:nvSpPr>
          <p:spPr>
            <a:xfrm>
              <a:off x="3330699" y="3090292"/>
              <a:ext cx="636464" cy="199069"/>
            </a:xfrm>
            <a:prstGeom prst="frame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0137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8"/>
            <a:ext cx="10515600" cy="106017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ko-KR" dirty="0"/>
              <a:t>object</a:t>
            </a:r>
          </a:p>
          <a:p>
            <a:pPr lvl="1"/>
            <a:r>
              <a:rPr lang="ko-KR" altLang="en-US" dirty="0"/>
              <a:t>객체라는 말 그대로 해당 변수를 객체로 지정한다는 의미입니다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A8652D-DBF9-A74D-524F-A32C4635C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18" y="3263318"/>
            <a:ext cx="5930725" cy="25543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54274CE-C646-07EE-07EC-665930453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544" y="3263317"/>
            <a:ext cx="5772956" cy="25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91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8"/>
            <a:ext cx="10515600" cy="2384412"/>
          </a:xfrm>
          <a:ln>
            <a:noFill/>
          </a:ln>
        </p:spPr>
        <p:txBody>
          <a:bodyPr>
            <a:normAutofit/>
          </a:bodyPr>
          <a:lstStyle/>
          <a:p>
            <a:r>
              <a:rPr lang="ko-KR" altLang="en-US" dirty="0"/>
              <a:t>범위 지정 함수 </a:t>
            </a:r>
            <a:r>
              <a:rPr lang="en-US" altLang="ko-KR" dirty="0"/>
              <a:t>(scope function)</a:t>
            </a:r>
          </a:p>
          <a:p>
            <a:pPr lvl="1"/>
            <a:r>
              <a:rPr lang="en-US" altLang="ko-KR" dirty="0"/>
              <a:t>with,</a:t>
            </a:r>
            <a:r>
              <a:rPr lang="ko-KR" altLang="en-US" dirty="0"/>
              <a:t> </a:t>
            </a:r>
            <a:r>
              <a:rPr lang="en-US" altLang="ko-KR" dirty="0"/>
              <a:t>also,</a:t>
            </a:r>
            <a:r>
              <a:rPr lang="ko-KR" altLang="en-US" dirty="0"/>
              <a:t> </a:t>
            </a:r>
            <a:r>
              <a:rPr lang="en-US" altLang="ko-KR" dirty="0"/>
              <a:t>apply, let, run </a:t>
            </a:r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가지 람다 함수가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지정한 특정 범위 내에서는 객체 이름 없이도 객체에 접근할 수 있습니다</a:t>
            </a:r>
            <a:r>
              <a:rPr lang="en-US" altLang="ko-KR" dirty="0"/>
              <a:t>. (</a:t>
            </a:r>
            <a:r>
              <a:rPr lang="ko-KR" altLang="en-US" u="sng" dirty="0"/>
              <a:t>코드 가시성 증가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기능 자체는 </a:t>
            </a:r>
            <a:r>
              <a:rPr lang="en-US" altLang="ko-KR" dirty="0"/>
              <a:t>5</a:t>
            </a:r>
            <a:r>
              <a:rPr lang="ko-KR" altLang="en-US" dirty="0"/>
              <a:t>가지 모두 동일하나 반환 값이나 수신 객체 지정 방법 등에 약간씩 차이가 있습니다</a:t>
            </a:r>
            <a:r>
              <a:rPr lang="en-US" altLang="ko-KR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91C1A1-0E43-F4A0-4CFF-C8BC70141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750" y="4210050"/>
            <a:ext cx="6480497" cy="262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770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8"/>
            <a:ext cx="10515600" cy="1325562"/>
          </a:xfrm>
          <a:ln>
            <a:noFill/>
          </a:ln>
        </p:spPr>
        <p:txBody>
          <a:bodyPr>
            <a:normAutofit/>
          </a:bodyPr>
          <a:lstStyle/>
          <a:p>
            <a:r>
              <a:rPr lang="ko-KR" altLang="en-US" dirty="0"/>
              <a:t>범위 지정 함수 </a:t>
            </a:r>
            <a:r>
              <a:rPr lang="en-US" altLang="ko-KR" dirty="0"/>
              <a:t>(scope function)</a:t>
            </a:r>
          </a:p>
          <a:p>
            <a:pPr lvl="1"/>
            <a:r>
              <a:rPr lang="en-US" altLang="ko-KR" dirty="0"/>
              <a:t>Let – </a:t>
            </a:r>
            <a:r>
              <a:rPr lang="ko-KR" altLang="en-US" dirty="0"/>
              <a:t>객체 접근 시 </a:t>
            </a:r>
            <a:r>
              <a:rPr lang="en-US" altLang="ko-KR" dirty="0"/>
              <a:t>it, nullable </a:t>
            </a:r>
            <a:r>
              <a:rPr lang="ko-KR" altLang="en-US" dirty="0"/>
              <a:t>값 처리할 때 주로 사용</a:t>
            </a:r>
            <a:endParaRPr lang="en-US" altLang="ko-KR" sz="4800" dirty="0">
              <a:latin typeface="Arial" panose="020B0604020202020204" pitchFamily="34" charset="0"/>
            </a:endParaRPr>
          </a:p>
          <a:p>
            <a:pPr lvl="1"/>
            <a:r>
              <a:rPr lang="ko-KR" altLang="en-US" dirty="0"/>
              <a:t>수신객체</a:t>
            </a:r>
            <a:r>
              <a:rPr lang="en-US" altLang="ko-KR" dirty="0"/>
              <a:t>.let{return </a:t>
            </a:r>
            <a:r>
              <a:rPr lang="ko-KR" altLang="en-US" dirty="0"/>
              <a:t>마지막 줄</a:t>
            </a:r>
            <a:r>
              <a:rPr lang="en-US" altLang="ko-KR" dirty="0"/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A708E3C-7284-41AF-FE02-4256305C2379}"/>
              </a:ext>
            </a:extLst>
          </p:cNvPr>
          <p:cNvGrpSpPr/>
          <p:nvPr/>
        </p:nvGrpSpPr>
        <p:grpSpPr>
          <a:xfrm>
            <a:off x="3257153" y="3286150"/>
            <a:ext cx="5677692" cy="1638529"/>
            <a:chOff x="3257153" y="2861372"/>
            <a:chExt cx="5677692" cy="16385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6AE9A32-EC78-1153-F40F-CCF6B3A35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57153" y="2861372"/>
              <a:ext cx="5677692" cy="1638529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2C3BFD9C-B558-807D-6989-81B74BC0CFE1}"/>
                </a:ext>
              </a:extLst>
            </p:cNvPr>
            <p:cNvCxnSpPr/>
            <p:nvPr/>
          </p:nvCxnSpPr>
          <p:spPr>
            <a:xfrm>
              <a:off x="4196767" y="3637774"/>
              <a:ext cx="36911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3257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8"/>
            <a:ext cx="10515600" cy="1325564"/>
          </a:xfrm>
          <a:ln>
            <a:noFill/>
          </a:ln>
        </p:spPr>
        <p:txBody>
          <a:bodyPr>
            <a:normAutofit/>
          </a:bodyPr>
          <a:lstStyle/>
          <a:p>
            <a:r>
              <a:rPr lang="ko-KR" altLang="en-US" dirty="0"/>
              <a:t>범위 지정 함수 </a:t>
            </a:r>
            <a:r>
              <a:rPr lang="en-US" altLang="ko-KR" dirty="0"/>
              <a:t>(scope function)</a:t>
            </a:r>
          </a:p>
          <a:p>
            <a:pPr lvl="1"/>
            <a:r>
              <a:rPr lang="en-US" altLang="ko-KR" dirty="0"/>
              <a:t>Apply – </a:t>
            </a:r>
            <a:r>
              <a:rPr lang="ko-KR" altLang="en-US" dirty="0"/>
              <a:t>수신객체 내부 속성 값들을 변경해야 할 때</a:t>
            </a:r>
            <a:endParaRPr lang="en-US" altLang="ko-KR" dirty="0"/>
          </a:p>
          <a:p>
            <a:pPr lvl="1"/>
            <a:r>
              <a:rPr lang="ko-KR" altLang="en-US" dirty="0"/>
              <a:t>수신객체</a:t>
            </a:r>
            <a:r>
              <a:rPr lang="en-US" altLang="ko-KR" dirty="0"/>
              <a:t>.apply{return</a:t>
            </a:r>
            <a:r>
              <a:rPr lang="ko-KR" altLang="en-US" dirty="0"/>
              <a:t> 수신객체</a:t>
            </a:r>
            <a:r>
              <a:rPr lang="en-US" altLang="ko-KR" dirty="0"/>
              <a:t>}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510E1FF-046C-2CB3-2B25-6322F7B2AF90}"/>
              </a:ext>
            </a:extLst>
          </p:cNvPr>
          <p:cNvGrpSpPr/>
          <p:nvPr/>
        </p:nvGrpSpPr>
        <p:grpSpPr>
          <a:xfrm>
            <a:off x="4019480" y="3286152"/>
            <a:ext cx="4153037" cy="2474026"/>
            <a:chOff x="3866838" y="2861372"/>
            <a:chExt cx="4458322" cy="271500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7F92BDF-0F43-0445-6746-9D6F7AAB1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66838" y="2861372"/>
              <a:ext cx="4458322" cy="2715004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D3EFCD7F-952E-9E73-CA5F-D5A1964E1C73}"/>
                </a:ext>
              </a:extLst>
            </p:cNvPr>
            <p:cNvCxnSpPr/>
            <p:nvPr/>
          </p:nvCxnSpPr>
          <p:spPr>
            <a:xfrm>
              <a:off x="6033956" y="3475773"/>
              <a:ext cx="46139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47CC96F-640D-B75F-0DD7-706839FB3674}"/>
                </a:ext>
              </a:extLst>
            </p:cNvPr>
            <p:cNvCxnSpPr/>
            <p:nvPr/>
          </p:nvCxnSpPr>
          <p:spPr>
            <a:xfrm>
              <a:off x="6033956" y="4735454"/>
              <a:ext cx="46139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0510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890BF-D514-9FE4-F5B0-4301E1E0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와의 차이점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FD239-C3CF-A9B7-3F21-B550BAD3B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37"/>
            <a:ext cx="10515600" cy="1764851"/>
          </a:xfrm>
          <a:ln>
            <a:noFill/>
          </a:ln>
        </p:spPr>
        <p:txBody>
          <a:bodyPr>
            <a:normAutofit/>
          </a:bodyPr>
          <a:lstStyle/>
          <a:p>
            <a:r>
              <a:rPr lang="ko-KR" altLang="en-US" dirty="0"/>
              <a:t>범위 지정 함수 </a:t>
            </a:r>
            <a:r>
              <a:rPr lang="en-US" altLang="ko-KR" dirty="0"/>
              <a:t>(scope function)</a:t>
            </a:r>
          </a:p>
          <a:p>
            <a:pPr lvl="1"/>
            <a:r>
              <a:rPr lang="en-US" altLang="ko-KR" dirty="0"/>
              <a:t>Also – </a:t>
            </a:r>
            <a:r>
              <a:rPr lang="ko-KR" altLang="en-US" dirty="0"/>
              <a:t>전달된 수신 객체를 전혀 사용하지 않거나 객체의 속성을 변경하지 않고 사용할 때 주로 사용합니다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수신객체</a:t>
            </a:r>
            <a:r>
              <a:rPr lang="en-US" altLang="ko-KR" dirty="0"/>
              <a:t>.also{return</a:t>
            </a:r>
            <a:r>
              <a:rPr lang="ko-KR" altLang="en-US" dirty="0"/>
              <a:t> 수신객체</a:t>
            </a:r>
            <a:r>
              <a:rPr lang="en-US" altLang="ko-KR" dirty="0"/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85B9D39-4814-AEF9-FA06-95555E930A0D}"/>
              </a:ext>
            </a:extLst>
          </p:cNvPr>
          <p:cNvGrpSpPr/>
          <p:nvPr/>
        </p:nvGrpSpPr>
        <p:grpSpPr>
          <a:xfrm>
            <a:off x="2452179" y="3725437"/>
            <a:ext cx="7287642" cy="2105319"/>
            <a:chOff x="2452178" y="2861372"/>
            <a:chExt cx="7287642" cy="210531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79A658B-8437-A9A4-8BE1-C6CF5B7BF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52178" y="2861372"/>
              <a:ext cx="7287642" cy="2105319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305F5064-4040-4F08-CFF0-9A02B1A68908}"/>
                </a:ext>
              </a:extLst>
            </p:cNvPr>
            <p:cNvCxnSpPr/>
            <p:nvPr/>
          </p:nvCxnSpPr>
          <p:spPr>
            <a:xfrm>
              <a:off x="3061982" y="3036815"/>
              <a:ext cx="45300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7276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AFD0-AC27-C6BF-90D5-2FA28C28E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1DA39-9180-D5DC-2AEC-9AC8E5159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디자인 패턴</a:t>
            </a:r>
          </a:p>
        </p:txBody>
      </p:sp>
    </p:spTree>
    <p:extLst>
      <p:ext uri="{BB962C8B-B14F-4D97-AF65-F5344CB8AC3E}">
        <p14:creationId xmlns:p14="http://schemas.microsoft.com/office/powerpoint/2010/main" val="3002287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50778-33DD-A057-0CDA-8C784F3F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디자인 패턴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E7DC22FE-88FF-4CFF-C44D-CEC68FC77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636"/>
            <a:ext cx="10515600" cy="4506164"/>
          </a:xfrm>
        </p:spPr>
        <p:txBody>
          <a:bodyPr>
            <a:normAutofit/>
          </a:bodyPr>
          <a:lstStyle/>
          <a:p>
            <a:r>
              <a:rPr lang="ko-KR" altLang="en-US" dirty="0"/>
              <a:t>소프트웨어 개발 중 구조를 설계할 때 각각 다른 소프트웨어 들이라도 결국 반복해서 생성</a:t>
            </a:r>
            <a:r>
              <a:rPr lang="en-US" altLang="ko-KR" dirty="0"/>
              <a:t>, </a:t>
            </a:r>
            <a:r>
              <a:rPr lang="ko-KR" altLang="en-US" dirty="0"/>
              <a:t>구조</a:t>
            </a:r>
            <a:r>
              <a:rPr lang="en-US" altLang="ko-KR" dirty="0"/>
              <a:t>, </a:t>
            </a:r>
            <a:r>
              <a:rPr lang="ko-KR" altLang="en-US" dirty="0"/>
              <a:t>행위 과정을 거침</a:t>
            </a:r>
            <a:endParaRPr lang="en-US" altLang="ko-KR" dirty="0"/>
          </a:p>
          <a:p>
            <a:r>
              <a:rPr lang="ko-KR" altLang="en-US" dirty="0"/>
              <a:t>이 과정 중 수많은 시행 착오 끝에 재사용성</a:t>
            </a:r>
            <a:r>
              <a:rPr lang="en-US" altLang="ko-KR" dirty="0"/>
              <a:t>, </a:t>
            </a:r>
            <a:r>
              <a:rPr lang="ko-KR" altLang="en-US" dirty="0"/>
              <a:t>가독성</a:t>
            </a:r>
            <a:r>
              <a:rPr lang="en-US" altLang="ko-KR" dirty="0"/>
              <a:t>, </a:t>
            </a:r>
            <a:r>
              <a:rPr lang="ko-KR" altLang="en-US" dirty="0"/>
              <a:t>유지 보수성</a:t>
            </a:r>
            <a:r>
              <a:rPr lang="en-US" altLang="ko-KR" dirty="0"/>
              <a:t>, </a:t>
            </a:r>
            <a:r>
              <a:rPr lang="ko-KR" altLang="en-US" dirty="0"/>
              <a:t>확장성</a:t>
            </a:r>
            <a:r>
              <a:rPr lang="en-US" altLang="ko-KR" dirty="0"/>
              <a:t>, </a:t>
            </a:r>
            <a:r>
              <a:rPr lang="ko-KR" altLang="en-US" dirty="0"/>
              <a:t>안정성 등을 고려한 보편적인 설계 구조들을 명명한 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60868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99F5F-9E63-40FC-FB15-F518374F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E0D49-754B-C1E6-1C97-1292DF82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디자인 패턴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C6B07A0B-511B-61D1-7032-AEC767DF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636"/>
            <a:ext cx="10515600" cy="4506164"/>
          </a:xfrm>
        </p:spPr>
        <p:txBody>
          <a:bodyPr>
            <a:normAutofit/>
          </a:bodyPr>
          <a:lstStyle/>
          <a:p>
            <a:r>
              <a:rPr lang="en-US" altLang="ko-KR" dirty="0"/>
              <a:t>View </a:t>
            </a:r>
            <a:r>
              <a:rPr lang="ko-KR" altLang="en-US" dirty="0"/>
              <a:t>위에서 데이터 가공</a:t>
            </a:r>
            <a:r>
              <a:rPr lang="en-US" altLang="ko-KR" dirty="0"/>
              <a:t>, </a:t>
            </a:r>
            <a:r>
              <a:rPr lang="ko-KR" altLang="en-US" dirty="0"/>
              <a:t>표출 전부 담당하는 </a:t>
            </a:r>
            <a:r>
              <a:rPr lang="en-US" altLang="ko-KR" dirty="0"/>
              <a:t>MVC</a:t>
            </a:r>
          </a:p>
          <a:p>
            <a:r>
              <a:rPr lang="en-US" altLang="ko-KR" dirty="0"/>
              <a:t>View </a:t>
            </a:r>
            <a:r>
              <a:rPr lang="ko-KR" altLang="en-US" dirty="0"/>
              <a:t>하나하나마다 데이터 가공을 따로 담당시키는 </a:t>
            </a:r>
            <a:r>
              <a:rPr lang="en-US" altLang="ko-KR" dirty="0"/>
              <a:t>MVP</a:t>
            </a:r>
          </a:p>
          <a:p>
            <a:r>
              <a:rPr lang="ko-KR" altLang="en-US" dirty="0"/>
              <a:t>데이터 바인딩을 통해 데이터</a:t>
            </a:r>
            <a:r>
              <a:rPr lang="en-US" altLang="ko-KR" dirty="0"/>
              <a:t>, </a:t>
            </a:r>
            <a:r>
              <a:rPr lang="ko-KR" altLang="en-US" dirty="0"/>
              <a:t>데이터 가공</a:t>
            </a:r>
            <a:r>
              <a:rPr lang="en-US" altLang="ko-KR" dirty="0"/>
              <a:t>, </a:t>
            </a:r>
            <a:r>
              <a:rPr lang="ko-KR" altLang="en-US" dirty="0"/>
              <a:t>뷰 표출을 완벽히 구분한 </a:t>
            </a:r>
            <a:r>
              <a:rPr lang="en-US" altLang="ko-KR" dirty="0"/>
              <a:t>MVVM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88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42C0-AF7E-8E17-461A-13A81D06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9362B-98E7-D982-6CF3-E123FFE0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디자인 패턴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2DB734EB-8B2B-E85F-2975-9F1725D1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635"/>
            <a:ext cx="10515600" cy="4195614"/>
          </a:xfrm>
        </p:spPr>
        <p:txBody>
          <a:bodyPr>
            <a:normAutofit/>
          </a:bodyPr>
          <a:lstStyle/>
          <a:p>
            <a:r>
              <a:rPr lang="ko-KR" altLang="en-US" dirty="0"/>
              <a:t>이 중</a:t>
            </a:r>
            <a:r>
              <a:rPr lang="en-US" altLang="ko-KR" dirty="0"/>
              <a:t>, </a:t>
            </a:r>
            <a:r>
              <a:rPr lang="ko-KR" altLang="en-US" dirty="0"/>
              <a:t>가장 복잡할 수 있지만 추후 앱 크기가 </a:t>
            </a:r>
            <a:r>
              <a:rPr lang="ko-KR" altLang="en-US" dirty="0" err="1"/>
              <a:t>비대해져도</a:t>
            </a:r>
            <a:r>
              <a:rPr lang="ko-KR" altLang="en-US" dirty="0"/>
              <a:t> 유지보수나 </a:t>
            </a:r>
            <a:r>
              <a:rPr lang="en-US" altLang="ko-KR" dirty="0" err="1"/>
              <a:t>viewModel</a:t>
            </a:r>
            <a:r>
              <a:rPr lang="ko-KR" altLang="en-US" dirty="0"/>
              <a:t>의 재활용성이 뛰어난 </a:t>
            </a:r>
            <a:r>
              <a:rPr lang="en-US" altLang="ko-KR" dirty="0"/>
              <a:t>MVVM </a:t>
            </a:r>
            <a:r>
              <a:rPr lang="ko-KR" altLang="en-US" dirty="0"/>
              <a:t>패턴이 보편적으로 쓰이는 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0725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3A9A6-CC14-D663-123B-D55BC7F4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D9DBD-5412-1F95-D8E1-D00D146E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MVVM</a:t>
            </a:r>
            <a:r>
              <a:rPr lang="ko-KR" altLang="en-US" dirty="0"/>
              <a:t> 구조 예시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4E10997-793F-199B-566A-695866A3B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5314"/>
            <a:ext cx="2781688" cy="2667372"/>
          </a:xfr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273E8BB7-D367-6EEF-AB23-D3A580C2902A}"/>
              </a:ext>
            </a:extLst>
          </p:cNvPr>
          <p:cNvSpPr/>
          <p:nvPr/>
        </p:nvSpPr>
        <p:spPr>
          <a:xfrm>
            <a:off x="1753299" y="2676088"/>
            <a:ext cx="1795244" cy="989901"/>
          </a:xfrm>
          <a:prstGeom prst="frame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A93BC970-169E-CBB9-8088-E91E62C3F638}"/>
              </a:ext>
            </a:extLst>
          </p:cNvPr>
          <p:cNvSpPr/>
          <p:nvPr/>
        </p:nvSpPr>
        <p:spPr>
          <a:xfrm>
            <a:off x="1944207" y="3816991"/>
            <a:ext cx="647991" cy="185956"/>
          </a:xfrm>
          <a:prstGeom prst="frame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83061F76-8947-6F97-002B-1D8BFD5612F8}"/>
              </a:ext>
            </a:extLst>
          </p:cNvPr>
          <p:cNvSpPr/>
          <p:nvPr/>
        </p:nvSpPr>
        <p:spPr>
          <a:xfrm>
            <a:off x="1944207" y="4012734"/>
            <a:ext cx="958384" cy="185956"/>
          </a:xfrm>
          <a:prstGeom prst="frame">
            <a:avLst>
              <a:gd name="adj1" fmla="val 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F1290-7C84-5096-C2B3-83583B3C3615}"/>
              </a:ext>
            </a:extLst>
          </p:cNvPr>
          <p:cNvSpPr txBox="1"/>
          <p:nvPr/>
        </p:nvSpPr>
        <p:spPr>
          <a:xfrm>
            <a:off x="5414871" y="2258408"/>
            <a:ext cx="651486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가공되지 않은 </a:t>
            </a:r>
            <a:r>
              <a:rPr lang="en-US" altLang="ko-KR" dirty="0"/>
              <a:t>Data(Model)</a:t>
            </a:r>
            <a:r>
              <a:rPr lang="ko-KR" altLang="en-US" dirty="0"/>
              <a:t>들이 </a:t>
            </a:r>
            <a:r>
              <a:rPr lang="en-US" altLang="ko-KR" dirty="0"/>
              <a:t>observe</a:t>
            </a:r>
            <a:r>
              <a:rPr lang="ko-KR" altLang="en-US" dirty="0"/>
              <a:t>가능한 상태로</a:t>
            </a:r>
            <a:br>
              <a:rPr lang="en-US" altLang="ko-KR" dirty="0"/>
            </a:br>
            <a:r>
              <a:rPr lang="ko-KR" altLang="en-US" dirty="0"/>
              <a:t>그대로 들어오는 </a:t>
            </a:r>
            <a:r>
              <a:rPr lang="en-US" altLang="ko-KR" dirty="0" err="1"/>
              <a:t>DataProvider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User</a:t>
            </a:r>
            <a:r>
              <a:rPr lang="ko-KR" altLang="en-US" dirty="0"/>
              <a:t>와 상호작용할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UI</a:t>
            </a:r>
            <a:r>
              <a:rPr lang="ko-KR" altLang="en-US" dirty="0"/>
              <a:t>를 담은 </a:t>
            </a:r>
            <a:r>
              <a:rPr lang="en-US" altLang="ko-KR" dirty="0"/>
              <a:t>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DataProvider</a:t>
            </a:r>
            <a:r>
              <a:rPr lang="en-US" altLang="ko-KR" dirty="0"/>
              <a:t> </a:t>
            </a:r>
            <a:r>
              <a:rPr lang="ko-KR" altLang="en-US" dirty="0"/>
              <a:t>중 </a:t>
            </a:r>
            <a:r>
              <a:rPr lang="en-US" altLang="ko-KR" dirty="0"/>
              <a:t>view</a:t>
            </a:r>
            <a:r>
              <a:rPr lang="ko-KR" altLang="en-US" dirty="0"/>
              <a:t>에 보여질 </a:t>
            </a:r>
            <a:r>
              <a:rPr lang="en-US" altLang="ko-KR" dirty="0"/>
              <a:t>data</a:t>
            </a:r>
            <a:r>
              <a:rPr lang="ko-KR" altLang="en-US" dirty="0"/>
              <a:t>를 가져와 가공해두고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view</a:t>
            </a:r>
            <a:r>
              <a:rPr lang="ko-KR" altLang="en-US" dirty="0"/>
              <a:t>에서 요청 시 </a:t>
            </a:r>
            <a:r>
              <a:rPr lang="en-US" altLang="ko-KR" dirty="0"/>
              <a:t>observe</a:t>
            </a:r>
            <a:r>
              <a:rPr lang="ko-KR" altLang="en-US" dirty="0"/>
              <a:t>되는 </a:t>
            </a:r>
            <a:r>
              <a:rPr lang="en-US" altLang="ko-KR" dirty="0" err="1"/>
              <a:t>viewModel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3B95E-7FD2-1C93-37DE-C0F045242700}"/>
              </a:ext>
            </a:extLst>
          </p:cNvPr>
          <p:cNvSpPr txBox="1"/>
          <p:nvPr/>
        </p:nvSpPr>
        <p:spPr>
          <a:xfrm>
            <a:off x="5414871" y="4766410"/>
            <a:ext cx="306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→ </a:t>
            </a:r>
            <a:r>
              <a:rPr lang="en-US" altLang="ko-KR" dirty="0"/>
              <a:t>MVVM </a:t>
            </a:r>
            <a:r>
              <a:rPr lang="ko-KR" altLang="en-US" dirty="0"/>
              <a:t>디자인 패턴 사용</a:t>
            </a:r>
          </a:p>
        </p:txBody>
      </p:sp>
    </p:spTree>
    <p:extLst>
      <p:ext uri="{BB962C8B-B14F-4D97-AF65-F5344CB8AC3E}">
        <p14:creationId xmlns:p14="http://schemas.microsoft.com/office/powerpoint/2010/main" val="105867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50778-33DD-A057-0CDA-8C784F3F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</a:t>
            </a:r>
            <a:r>
              <a:rPr lang="en-US" altLang="ko-KR" dirty="0"/>
              <a:t>(Model)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409B162-F74B-082C-5BD6-AC0911230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545" y="1690688"/>
            <a:ext cx="4722655" cy="4324218"/>
          </a:xfr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456BD23-3B90-F16A-1D73-1B0806B35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9" y="3004953"/>
            <a:ext cx="2048161" cy="16956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69D7D3-D63C-F048-7939-DC7F8CBC2D99}"/>
              </a:ext>
            </a:extLst>
          </p:cNvPr>
          <p:cNvSpPr txBox="1"/>
          <p:nvPr/>
        </p:nvSpPr>
        <p:spPr>
          <a:xfrm>
            <a:off x="7270795" y="2841635"/>
            <a:ext cx="50066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해당 클러스터에서 필요한 모든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데이터를 제공하는 </a:t>
            </a:r>
            <a:r>
              <a:rPr lang="en-US" altLang="ko-KR" dirty="0" err="1"/>
              <a:t>ExcavatorDataProvider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클래스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MutableLiveData</a:t>
            </a:r>
            <a:r>
              <a:rPr lang="ko-KR" altLang="en-US" dirty="0"/>
              <a:t>형식의 변수로 데이터 저장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89579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50778-33DD-A057-0CDA-8C784F3F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409B162-F74B-082C-5BD6-AC0911230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4379" y="1690686"/>
            <a:ext cx="4722655" cy="4324218"/>
          </a:xfr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456BD23-3B90-F16A-1D73-1B0806B35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98" y="3004952"/>
            <a:ext cx="1928238" cy="1695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B5AD3-8212-B461-372F-6F319BC131BA}"/>
              </a:ext>
            </a:extLst>
          </p:cNvPr>
          <p:cNvSpPr txBox="1"/>
          <p:nvPr/>
        </p:nvSpPr>
        <p:spPr>
          <a:xfrm>
            <a:off x="7270795" y="2841635"/>
            <a:ext cx="488306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클러스터의 액티비티와 </a:t>
            </a:r>
            <a:r>
              <a:rPr lang="ko-KR" altLang="en-US" dirty="0" err="1"/>
              <a:t>프래그먼트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UI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를 구성하는 클래스들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ViewModel</a:t>
            </a:r>
            <a:r>
              <a:rPr lang="ko-KR" altLang="en-US" dirty="0"/>
              <a:t>클래스에서 데이터 변화를 관찰</a:t>
            </a:r>
            <a:endParaRPr lang="en-US" altLang="ko-KR" dirty="0"/>
          </a:p>
          <a:p>
            <a:r>
              <a:rPr lang="en-US" altLang="ko-KR" dirty="0"/>
              <a:t>   (observe)</a:t>
            </a:r>
            <a:r>
              <a:rPr lang="ko-KR" altLang="en-US" dirty="0"/>
              <a:t>하여 </a:t>
            </a:r>
            <a:r>
              <a:rPr lang="en-US" altLang="ko-KR" dirty="0"/>
              <a:t>UI </a:t>
            </a:r>
            <a:r>
              <a:rPr lang="ko-KR" altLang="en-US" dirty="0"/>
              <a:t>갱신</a:t>
            </a:r>
            <a:endParaRPr lang="en-US" altLang="ko-KR" dirty="0"/>
          </a:p>
          <a:p>
            <a:r>
              <a:rPr lang="en-US" altLang="ko-KR" dirty="0"/>
              <a:t>   -&gt; </a:t>
            </a:r>
            <a:r>
              <a:rPr lang="ko-KR" altLang="en-US" dirty="0"/>
              <a:t>백그라운드에서 </a:t>
            </a:r>
            <a:r>
              <a:rPr lang="en-US" altLang="ko-KR" dirty="0" err="1"/>
              <a:t>postValue</a:t>
            </a:r>
            <a:r>
              <a:rPr lang="ko-KR" altLang="en-US" dirty="0"/>
              <a:t>한 값을 얻어</a:t>
            </a:r>
            <a:endParaRPr lang="en-US" altLang="ko-KR" dirty="0"/>
          </a:p>
          <a:p>
            <a:r>
              <a:rPr lang="en-US" altLang="ko-KR" dirty="0"/>
              <a:t>       </a:t>
            </a:r>
            <a:r>
              <a:rPr lang="ko-KR" altLang="en-US" dirty="0"/>
              <a:t>오기 위함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데이터는 일절 관여하지 않고 오로지 표출</a:t>
            </a:r>
            <a:br>
              <a:rPr lang="en-US" altLang="ko-KR" dirty="0"/>
            </a:br>
            <a:r>
              <a:rPr lang="ko-KR" altLang="en-US" dirty="0"/>
              <a:t>기능만 담당</a:t>
            </a:r>
            <a:endParaRPr lang="en-US" altLang="ko-KR" dirty="0"/>
          </a:p>
        </p:txBody>
      </p:sp>
      <p:sp>
        <p:nvSpPr>
          <p:cNvPr id="4" name="원형: 비어 있음 3">
            <a:extLst>
              <a:ext uri="{FF2B5EF4-FFF2-40B4-BE49-F238E27FC236}">
                <a16:creationId xmlns:a16="http://schemas.microsoft.com/office/drawing/2014/main" id="{D7F067C9-7722-C771-B5C3-4158E7323E82}"/>
              </a:ext>
            </a:extLst>
          </p:cNvPr>
          <p:cNvSpPr/>
          <p:nvPr/>
        </p:nvSpPr>
        <p:spPr>
          <a:xfrm>
            <a:off x="3507843" y="2624138"/>
            <a:ext cx="1376101" cy="176649"/>
          </a:xfrm>
          <a:prstGeom prst="donut">
            <a:avLst>
              <a:gd name="adj" fmla="val 1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656037-2390-32DC-A115-006F78DA0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693" y="3983579"/>
            <a:ext cx="4717341" cy="2007124"/>
          </a:xfrm>
          <a:prstGeom prst="rect">
            <a:avLst/>
          </a:prstGeom>
        </p:spPr>
      </p:pic>
      <p:sp>
        <p:nvSpPr>
          <p:cNvPr id="7" name="원형: 비어 있음 6">
            <a:extLst>
              <a:ext uri="{FF2B5EF4-FFF2-40B4-BE49-F238E27FC236}">
                <a16:creationId xmlns:a16="http://schemas.microsoft.com/office/drawing/2014/main" id="{1BFA6A0E-C254-2624-87FF-990CC811B001}"/>
              </a:ext>
            </a:extLst>
          </p:cNvPr>
          <p:cNvSpPr/>
          <p:nvPr/>
        </p:nvSpPr>
        <p:spPr>
          <a:xfrm>
            <a:off x="3858870" y="4218417"/>
            <a:ext cx="398805" cy="176649"/>
          </a:xfrm>
          <a:prstGeom prst="donut">
            <a:avLst>
              <a:gd name="adj" fmla="val 15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662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50778-33DD-A057-0CDA-8C784F3F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</a:t>
            </a:r>
            <a:r>
              <a:rPr lang="en-US" altLang="ko-KR" dirty="0"/>
              <a:t>(View Model)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409B162-F74B-082C-5BD6-AC0911230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7600" y="1690687"/>
            <a:ext cx="4722655" cy="4324218"/>
          </a:xfr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456BD23-3B90-F16A-1D73-1B0806B35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98" y="3280632"/>
            <a:ext cx="1928238" cy="11443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51DD75-0D0A-25AE-E10A-DB3CEFCF079E}"/>
              </a:ext>
            </a:extLst>
          </p:cNvPr>
          <p:cNvSpPr txBox="1"/>
          <p:nvPr/>
        </p:nvSpPr>
        <p:spPr>
          <a:xfrm>
            <a:off x="7270795" y="2841635"/>
            <a:ext cx="51042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특정 액티비티나 </a:t>
            </a:r>
            <a:r>
              <a:rPr lang="ko-KR" altLang="en-US" dirty="0" err="1"/>
              <a:t>프래그먼트에</a:t>
            </a:r>
            <a:r>
              <a:rPr lang="ko-KR" altLang="en-US" dirty="0"/>
              <a:t> 필요한 데이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터를 </a:t>
            </a:r>
            <a:r>
              <a:rPr lang="en-US" altLang="ko-KR" dirty="0" err="1"/>
              <a:t>DataProvider</a:t>
            </a:r>
            <a:r>
              <a:rPr lang="ko-KR" altLang="en-US" dirty="0"/>
              <a:t>에서 가져와 변화하는 값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을 저장 및 갱신하는 클래스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조건문</a:t>
            </a:r>
            <a:r>
              <a:rPr lang="en-US" altLang="ko-KR" dirty="0"/>
              <a:t>, </a:t>
            </a:r>
            <a:r>
              <a:rPr lang="ko-KR" altLang="en-US" dirty="0"/>
              <a:t>함수 등으로 데이터의 가공도 해당</a:t>
            </a:r>
            <a:endParaRPr lang="en-US" altLang="ko-KR" dirty="0"/>
          </a:p>
          <a:p>
            <a:r>
              <a:rPr lang="ko-KR" altLang="en-US" dirty="0"/>
              <a:t>   클래스에서 이행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58079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1047</Words>
  <Application>Microsoft Office PowerPoint</Application>
  <PresentationFormat>와이드스크린</PresentationFormat>
  <Paragraphs>152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테마</vt:lpstr>
      <vt:lpstr>Kotlin 분석 </vt:lpstr>
      <vt:lpstr>목차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JAVA와의 차이점</vt:lpstr>
      <vt:lpstr>디자인 패턴</vt:lpstr>
      <vt:lpstr>디자인 패턴?</vt:lpstr>
      <vt:lpstr>디자인 패턴?</vt:lpstr>
      <vt:lpstr>디자인 패턴?</vt:lpstr>
      <vt:lpstr>MVVM 구조 예시</vt:lpstr>
      <vt:lpstr>구조(Model)</vt:lpstr>
      <vt:lpstr>구조(View)</vt:lpstr>
      <vt:lpstr>구조(View Model)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UXR cluster 분석</dc:title>
  <dc:creator>Bonggi Jin</dc:creator>
  <cp:lastModifiedBy>Jin Bonggi</cp:lastModifiedBy>
  <cp:revision>34</cp:revision>
  <dcterms:created xsi:type="dcterms:W3CDTF">2023-04-10T08:52:22Z</dcterms:created>
  <dcterms:modified xsi:type="dcterms:W3CDTF">2025-06-27T05:47:02Z</dcterms:modified>
</cp:coreProperties>
</file>